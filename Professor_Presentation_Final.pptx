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8.xml" ContentType="application/vnd.openxmlformats-officedocument.drawingml.chart+xml"/>
  <Override PartName="/ppt/slides/charts/chart9.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17abd792e3a40ec" /><Relationship Type="http://schemas.openxmlformats.org/officeDocument/2006/relationships/extended-properties" Target="/docProps/app.xml" Id="Rcf457d9127554f5f" /><Relationship Type="http://schemas.openxmlformats.org/officeDocument/2006/relationships/officeDocument" Target="/ppt/presentation.xml" Id="Ra89fdd8dcf8e4af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f0c9a108e75458f"/>
  </p:sldMasterIdLst>
  <p:notesMasterIdLst>
    <p:notesMasterId xmlns:r="http://schemas.openxmlformats.org/officeDocument/2006/relationships" r:id="Rf02c7e9fa8f1423c"/>
  </p:notesMasterIdLst>
  <p:sldIdLst>
    <p:sldId xmlns:r="http://schemas.openxmlformats.org/officeDocument/2006/relationships" id="256" r:id="Re4d3fadc25754191"/>
    <p:sldId xmlns:r="http://schemas.openxmlformats.org/officeDocument/2006/relationships" id="257" r:id="Rec5cdc14c2454ada"/>
    <p:sldId xmlns:r="http://schemas.openxmlformats.org/officeDocument/2006/relationships" id="258" r:id="R136a1bdc08d74d7c"/>
    <p:sldId xmlns:r="http://schemas.openxmlformats.org/officeDocument/2006/relationships" id="259" r:id="Rbe398065465d4378"/>
    <p:sldId xmlns:r="http://schemas.openxmlformats.org/officeDocument/2006/relationships" id="260" r:id="R2f9c23c2bfdf4cd2"/>
    <p:sldId xmlns:r="http://schemas.openxmlformats.org/officeDocument/2006/relationships" id="261" r:id="Rfa2a6c2887604774"/>
    <p:sldId xmlns:r="http://schemas.openxmlformats.org/officeDocument/2006/relationships" id="262" r:id="Rf0fd840bcdfc4bf1"/>
    <p:sldId xmlns:r="http://schemas.openxmlformats.org/officeDocument/2006/relationships" id="263" r:id="R01f38afacfa64c26"/>
    <p:sldId xmlns:r="http://schemas.openxmlformats.org/officeDocument/2006/relationships" id="264" r:id="R095d6647bbdd4ecc"/>
    <p:sldId xmlns:r="http://schemas.openxmlformats.org/officeDocument/2006/relationships" id="265" r:id="Rc5dc655dc6a7498c"/>
    <p:sldId xmlns:r="http://schemas.openxmlformats.org/officeDocument/2006/relationships" id="266" r:id="R09ec803646104839"/>
    <p:sldId xmlns:r="http://schemas.openxmlformats.org/officeDocument/2006/relationships" id="267" r:id="Ref1d58212e6f4865"/>
    <p:sldId xmlns:r="http://schemas.openxmlformats.org/officeDocument/2006/relationships" id="268" r:id="R12ca0dd08f5048e0"/>
    <p:sldId xmlns:r="http://schemas.openxmlformats.org/officeDocument/2006/relationships" id="269" r:id="R810868ab9ff84b02"/>
  </p:sldIdLst>
  <p:sldSz cx="12192000" cy="6858000"/>
  <p:notesSz cx="6858000" cy="9144000"/>
  <p:embeddedFontLst>
    <p:embeddedFont>
      <p:font typeface="OpenAI Sans"/>
      <p:regular xmlns:r="http://schemas.openxmlformats.org/officeDocument/2006/relationships" r:id="R741bed1be4744562"/>
      <p:bold xmlns:r="http://schemas.openxmlformats.org/officeDocument/2006/relationships" r:id="R332b8a02516942a2"/>
      <p:italic xmlns:r="http://schemas.openxmlformats.org/officeDocument/2006/relationships" r:id="R06e2bf1b592e4ff7"/>
      <p:boldItalic xmlns:r="http://schemas.openxmlformats.org/officeDocument/2006/relationships" r:id="Rca344dbe57d9462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12a4da44c3e4daa" /><Relationship Type="http://schemas.openxmlformats.org/officeDocument/2006/relationships/slideMaster" Target="/ppt/slideMasters/slideMaster1.xml" Id="Raf0c9a108e75458f" /><Relationship Type="http://schemas.openxmlformats.org/officeDocument/2006/relationships/notesMaster" Target="/ppt/notesMasters/notesMaster1.xml" Id="Rf02c7e9fa8f1423c" /><Relationship Type="http://schemas.openxmlformats.org/officeDocument/2006/relationships/presProps" Target="/ppt/presProps.xml" Id="R4b4ce004e03c416b" /><Relationship Type="http://schemas.openxmlformats.org/officeDocument/2006/relationships/viewProps" Target="/ppt/viewProps.xml" Id="R8474a5644e1742bb" /><Relationship Type="http://schemas.openxmlformats.org/officeDocument/2006/relationships/tableStyles" Target="/ppt/tableStyles.xml" Id="Ref2db22d4d5c41cf" /><Relationship Type="http://schemas.openxmlformats.org/officeDocument/2006/relationships/font" Target="/ppt/fonts/font.dat" Id="R741bed1be4744562" /><Relationship Type="http://schemas.openxmlformats.org/officeDocument/2006/relationships/font" Target="/ppt/fonts/font2.dat" Id="R332b8a02516942a2" /><Relationship Type="http://schemas.openxmlformats.org/officeDocument/2006/relationships/font" Target="/ppt/fonts/font3.dat" Id="R06e2bf1b592e4ff7" /><Relationship Type="http://schemas.openxmlformats.org/officeDocument/2006/relationships/font" Target="/ppt/fonts/font4.dat" Id="Rca344dbe57d94627" /><Relationship Type="http://schemas.openxmlformats.org/officeDocument/2006/relationships/slide" Target="/ppt/slides/slide1.xml" Id="Re4d3fadc25754191" /><Relationship Type="http://schemas.openxmlformats.org/officeDocument/2006/relationships/slide" Target="/ppt/slides/slide2.xml" Id="Rec5cdc14c2454ada" /><Relationship Type="http://schemas.openxmlformats.org/officeDocument/2006/relationships/slide" Target="/ppt/slides/slide3.xml" Id="R136a1bdc08d74d7c" /><Relationship Type="http://schemas.openxmlformats.org/officeDocument/2006/relationships/slide" Target="/ppt/slides/slide4.xml" Id="Rbe398065465d4378" /><Relationship Type="http://schemas.openxmlformats.org/officeDocument/2006/relationships/slide" Target="/ppt/slides/slide5.xml" Id="R2f9c23c2bfdf4cd2" /><Relationship Type="http://schemas.openxmlformats.org/officeDocument/2006/relationships/slide" Target="/ppt/slides/slide6.xml" Id="Rfa2a6c2887604774" /><Relationship Type="http://schemas.openxmlformats.org/officeDocument/2006/relationships/slide" Target="/ppt/slides/slide7.xml" Id="Rf0fd840bcdfc4bf1" /><Relationship Type="http://schemas.openxmlformats.org/officeDocument/2006/relationships/slide" Target="/ppt/slides/slide8.xml" Id="R01f38afacfa64c26" /><Relationship Type="http://schemas.openxmlformats.org/officeDocument/2006/relationships/slide" Target="/ppt/slides/slide9.xml" Id="R095d6647bbdd4ecc" /><Relationship Type="http://schemas.openxmlformats.org/officeDocument/2006/relationships/slide" Target="/ppt/slides/slide10.xml" Id="Rc5dc655dc6a7498c" /><Relationship Type="http://schemas.openxmlformats.org/officeDocument/2006/relationships/slide" Target="/ppt/slides/slide11.xml" Id="R09ec803646104839" /><Relationship Type="http://schemas.openxmlformats.org/officeDocument/2006/relationships/slide" Target="/ppt/slides/slide12.xml" Id="Ref1d58212e6f4865" /><Relationship Type="http://schemas.openxmlformats.org/officeDocument/2006/relationships/slide" Target="/ppt/slides/slide13.xml" Id="R12ca0dd08f5048e0" /><Relationship Type="http://schemas.openxmlformats.org/officeDocument/2006/relationships/slide" Target="/ppt/slides/slide14.xml" Id="R810868ab9ff84b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35b3867ff34a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e2ba189aa144bd" /><Relationship Type="http://schemas.openxmlformats.org/officeDocument/2006/relationships/notesMaster" Target="/ppt/notesMasters/notesMaster1.xml" Id="R335e97f6efcf43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67338165944bf1" /><Relationship Type="http://schemas.openxmlformats.org/officeDocument/2006/relationships/notesMaster" Target="/ppt/notesMasters/notesMaster1.xml" Id="Rc2a5e09b538441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4f3c833d194a0d" /><Relationship Type="http://schemas.openxmlformats.org/officeDocument/2006/relationships/notesMaster" Target="/ppt/notesMasters/notesMaster1.xml" Id="R9798be6477db44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5b278042d647ca" /><Relationship Type="http://schemas.openxmlformats.org/officeDocument/2006/relationships/notesMaster" Target="/ppt/notesMasters/notesMaster1.xml" Id="R7b0ec7240d7b48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7e4337c56e4c6a" /><Relationship Type="http://schemas.openxmlformats.org/officeDocument/2006/relationships/notesMaster" Target="/ppt/notesMasters/notesMaster1.xml" Id="Ra0fe210e212d4d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02c29f60e5408d" /><Relationship Type="http://schemas.openxmlformats.org/officeDocument/2006/relationships/notesMaster" Target="/ppt/notesMasters/notesMaster1.xml" Id="R542506a7be0547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f70ce980d344d9" /><Relationship Type="http://schemas.openxmlformats.org/officeDocument/2006/relationships/notesMaster" Target="/ppt/notesMasters/notesMaster1.xml" Id="R61bdc054636549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3d156a5ce942a0" /><Relationship Type="http://schemas.openxmlformats.org/officeDocument/2006/relationships/notesMaster" Target="/ppt/notesMasters/notesMaster1.xml" Id="R7016ffa30d164d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5cfdf471ce460f" /><Relationship Type="http://schemas.openxmlformats.org/officeDocument/2006/relationships/notesMaster" Target="/ppt/notesMasters/notesMaster1.xml" Id="Raa5a192aa0a54d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0c1629e5f54a6a" /><Relationship Type="http://schemas.openxmlformats.org/officeDocument/2006/relationships/notesMaster" Target="/ppt/notesMasters/notesMaster1.xml" Id="Rcfc6ba152faa4b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a272608356448b" /><Relationship Type="http://schemas.openxmlformats.org/officeDocument/2006/relationships/notesMaster" Target="/ppt/notesMasters/notesMaster1.xml" Id="R57a221d497cb40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541045dbe14421" /><Relationship Type="http://schemas.openxmlformats.org/officeDocument/2006/relationships/notesMaster" Target="/ppt/notesMasters/notesMaster1.xml" Id="R7b2fd5a9942d4d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e75c611c8b4eeb" /><Relationship Type="http://schemas.openxmlformats.org/officeDocument/2006/relationships/notesMaster" Target="/ppt/notesMasters/notesMaster1.xml" Id="Rbbb094140b474c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75725b263224874" /><Relationship Type="http://schemas.openxmlformats.org/officeDocument/2006/relationships/notesMaster" Target="/ppt/notesMasters/notesMaster1.xml" Id="Re4b6f0c6527b4b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question is whether variational adapter training improves calibration on a smaller model. We completed six T4 runs and report the measured outcome, including the negative result.</a:t>
            </a:r>
            <a:endParaRPr/>
          </a:p>
          <a:p xmlns:a="http://schemas.openxmlformats.org/drawingml/2006/main">
            <a:r>
              <a:t>Cong et al., Variational Low-Rank Adaptation Using IVON (2024), Table 1 and Section 2. https://arxiv.org/html/2411.04421v2</a:t>
            </a:r>
            <a:endParaRPr/>
          </a:p>
          <a:p xmlns:a="http://schemas.openxmlformats.org/drawingml/2006/main">
            <a:r>
              <a:t>Official optimizer: https://github.com/team-approx-bayes/ivon</a:t>
            </a:r>
            <a:endParaRPr/>
          </a:p>
          <a:p xmlns:a="http://schemas.openxmlformats.org/drawingml/2006/main">
            <a:r>
              <a:t>Model: https://huggingface.co/Qwen/Qwen2.5-0.5B</a:t>
            </a:r>
            <a:endParaRPr/>
          </a:p>
          <a:p xmlns:a="http://schemas.openxmlformats.org/drawingml/2006/main">
            <a:r>
              <a:t>Dataset: https://huggingface.co/datasets/allenai/ai2_arc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Cong et al., Variational Low-Rank Adaptation Using IVON (2024), Table 1 and Section 2. https://arxiv.org/html/2411.04421v2</a:t>
            </a:r>
            <a:endParaRPr/>
          </a:p>
          <a:p xmlns:a="http://schemas.openxmlformats.org/drawingml/2006/main">
            <a:pPr marL="0" lvl="0" indent="0" algn="l">
              <a:spcBef>
                <a:spcPts val="0"/>
              </a:spcBef>
              <a:spcAft>
                <a:spcPts val="0"/>
              </a:spcAft>
              <a:buNone/>
            </a:pPr>
            <a:r>
              <a:t>Official optimizer: https://github.com/team-approx-bayes/ivon</a:t>
            </a:r>
            <a:endParaRPr/>
          </a:p>
          <a:p xmlns:a="http://schemas.openxmlformats.org/drawingml/2006/main">
            <a:pPr marL="0" lvl="0" indent="0" algn="l">
              <a:spcBef>
                <a:spcPts val="0"/>
              </a:spcBef>
              <a:spcAft>
                <a:spcPts val="0"/>
              </a:spcAft>
              <a:buNone/>
            </a:pPr>
            <a:r>
              <a:t>Model: https://huggingface.co/Qwen/Qwen2.5-0.5B</a:t>
            </a:r>
            <a:endParaRPr/>
          </a:p>
          <a:p xmlns:a="http://schemas.openxmlformats.org/drawingml/2006/main">
            <a:pPr marL="0" lvl="0" indent="0" algn="l">
              <a:spcBef>
                <a:spcPts val="0"/>
              </a:spcBef>
              <a:spcAft>
                <a:spcPts val="0"/>
              </a:spcAft>
              <a:buNone/>
            </a:pPr>
            <a:r>
              <a:t>Dataset: https://huggingface.co/datasets/allenai/ai2_arc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LoRA equation shown for a generic linear layer. W is frozen, and A and B are trainable. Our q_proj and v_proj adapters use rank 8, alpha 16, dropout 0. There are 540,672 trainable parameters, about 0.1093% of 494,573,440 total parameters including adapters.</a:t>
            </a:r>
            <a:endParaRPr/>
          </a:p>
          <a:p xmlns:a="http://schemas.openxmlformats.org/drawingml/2006/main">
            <a:pPr marL="0" lvl="0" indent="0" algn="l">
              <a:spcBef>
                <a:spcPts val="0"/>
              </a:spcBef>
              <a:spcAft>
                <a:spcPts val="0"/>
              </a:spcAft>
              <a:buNone/>
            </a:pPr>
            <a:r>
              <a:t>Cong et al., Variational Low-Rank Adaptation Using IVON (2024), Table 1 and Section 2. https://arxiv.org/html/2411.04421v2</a:t>
            </a:r>
            <a:endParaRPr/>
          </a:p>
          <a:p xmlns:a="http://schemas.openxmlformats.org/drawingml/2006/main">
            <a:pPr marL="0" lvl="0" indent="0" algn="l">
              <a:spcBef>
                <a:spcPts val="0"/>
              </a:spcBef>
              <a:spcAft>
                <a:spcPts val="0"/>
              </a:spcAft>
              <a:buNone/>
            </a:pPr>
            <a:r>
              <a:t>Official optimizer: https://github.com/team-approx-bayes/ivon</a:t>
            </a:r>
            <a:endParaRPr/>
          </a:p>
          <a:p xmlns:a="http://schemas.openxmlformats.org/drawingml/2006/main">
            <a:pPr marL="0" lvl="0" indent="0" algn="l">
              <a:spcBef>
                <a:spcPts val="0"/>
              </a:spcBef>
              <a:spcAft>
                <a:spcPts val="0"/>
              </a:spcAft>
              <a:buNone/>
            </a:pPr>
            <a:r>
              <a:t>Model: https://huggingface.co/Qwen/Qwen2.5-0.5B</a:t>
            </a:r>
            <a:endParaRPr/>
          </a:p>
          <a:p xmlns:a="http://schemas.openxmlformats.org/drawingml/2006/main">
            <a:pPr marL="0" lvl="0" indent="0" algn="l">
              <a:spcBef>
                <a:spcPts val="0"/>
              </a:spcBef>
              <a:spcAft>
                <a:spcPts val="0"/>
              </a:spcAft>
              <a:buNone/>
            </a:pPr>
            <a:r>
              <a:t>Dataset: https://huggingface.co/datasets/allenai/ai2_arc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diagram summarizes the official IVON optimizer, not a complete derivation. The variance uses ESS and the optimizer scale h plus weight decay. Our fixed ESS is 1,000,000 versus 512 training examples, which targets a cold posterior.</a:t>
            </a:r>
            <a:endParaRPr/>
          </a:p>
          <a:p xmlns:a="http://schemas.openxmlformats.org/drawingml/2006/main">
            <a:pPr marL="0" lvl="0" indent="0" algn="l">
              <a:spcBef>
                <a:spcPts val="0"/>
              </a:spcBef>
              <a:spcAft>
                <a:spcPts val="0"/>
              </a:spcAft>
              <a:buNone/>
            </a:pPr>
            <a:r>
              <a:t>Cong et al., Variational Low-Rank Adaptation Using IVON (2024), Table 1 and Section 2. https://arxiv.org/html/2411.04421v2</a:t>
            </a:r>
            <a:endParaRPr/>
          </a:p>
          <a:p xmlns:a="http://schemas.openxmlformats.org/drawingml/2006/main">
            <a:pPr marL="0" lvl="0" indent="0" algn="l">
              <a:spcBef>
                <a:spcPts val="0"/>
              </a:spcBef>
              <a:spcAft>
                <a:spcPts val="0"/>
              </a:spcAft>
              <a:buNone/>
            </a:pPr>
            <a:r>
              <a:t>Official optimizer: https://github.com/team-approx-bayes/ivon</a:t>
            </a:r>
            <a:endParaRPr/>
          </a:p>
          <a:p xmlns:a="http://schemas.openxmlformats.org/drawingml/2006/main">
            <a:pPr marL="0" lvl="0" indent="0" algn="l">
              <a:spcBef>
                <a:spcPts val="0"/>
              </a:spcBef>
              <a:spcAft>
                <a:spcPts val="0"/>
              </a:spcAft>
              <a:buNone/>
            </a:pPr>
            <a:r>
              <a:t>Model: https://huggingface.co/Qwen/Qwen2.5-0.5B</a:t>
            </a:r>
            <a:endParaRPr/>
          </a:p>
          <a:p xmlns:a="http://schemas.openxmlformats.org/drawingml/2006/main">
            <a:pPr marL="0" lvl="0" indent="0" algn="l">
              <a:spcBef>
                <a:spcPts val="0"/>
              </a:spcBef>
              <a:spcAft>
                <a:spcPts val="0"/>
              </a:spcAft>
              <a:buNone/>
            </a:pPr>
            <a:r>
              <a:t>Dataset: https://huggingface.co/datasets/allenai/ai2_arc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IVON mean and IVON MC share the same trained IVON run. For MC prediction, average probabilities rather than logits. Each question has four answer options.</a:t>
            </a:r>
            <a:endParaRPr/>
          </a:p>
          <a:p xmlns:a="http://schemas.openxmlformats.org/drawingml/2006/main">
            <a:pPr marL="0" lvl="0" indent="0" algn="l">
              <a:spcBef>
                <a:spcPts val="0"/>
              </a:spcBef>
              <a:spcAft>
                <a:spcPts val="0"/>
              </a:spcAft>
              <a:buNone/>
            </a:pPr>
            <a:r>
              <a:t>Cong et al., Variational Low-Rank Adaptation Using IVON (2024), Table 1 and Section 2. https://arxiv.org/html/2411.04421v2</a:t>
            </a:r>
            <a:endParaRPr/>
          </a:p>
          <a:p xmlns:a="http://schemas.openxmlformats.org/drawingml/2006/main">
            <a:pPr marL="0" lvl="0" indent="0" algn="l">
              <a:spcBef>
                <a:spcPts val="0"/>
              </a:spcBef>
              <a:spcAft>
                <a:spcPts val="0"/>
              </a:spcAft>
              <a:buNone/>
            </a:pPr>
            <a:r>
              <a:t>Official optimizer: https://github.com/team-approx-bayes/ivon</a:t>
            </a:r>
            <a:endParaRPr/>
          </a:p>
          <a:p xmlns:a="http://schemas.openxmlformats.org/drawingml/2006/main">
            <a:pPr marL="0" lvl="0" indent="0" algn="l">
              <a:spcBef>
                <a:spcPts val="0"/>
              </a:spcBef>
              <a:spcAft>
                <a:spcPts val="0"/>
              </a:spcAft>
              <a:buNone/>
            </a:pPr>
            <a:r>
              <a:t>Model: https://huggingface.co/Qwen/Qwen2.5-0.5B</a:t>
            </a:r>
            <a:endParaRPr/>
          </a:p>
          <a:p xmlns:a="http://schemas.openxmlformats.org/drawingml/2006/main">
            <a:pPr marL="0" lvl="0" indent="0" algn="l">
              <a:spcBef>
                <a:spcPts val="0"/>
              </a:spcBef>
              <a:spcAft>
                <a:spcPts val="0"/>
              </a:spcAft>
              <a:buNone/>
            </a:pPr>
            <a:r>
              <a:t>Dataset: https://huggingface.co/datasets/allenai/ai2_arc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results/quick/config.json and split_ids.json. Both optimizers receive the same data split, order, and initial adapter weights within each seed. Learning rates are fixed starting settings. They were not tuned using the test data. FP32, sequence length 256, warmup fraction 0.1, linear decay.</a:t>
            </a:r>
            <a:endParaRPr/>
          </a:p>
          <a:p xmlns:a="http://schemas.openxmlformats.org/drawingml/2006/main">
            <a:pPr marL="0" lvl="0" indent="0" algn="l">
              <a:spcBef>
                <a:spcPts val="0"/>
              </a:spcBef>
              <a:spcAft>
                <a:spcPts val="0"/>
              </a:spcAft>
              <a:buNone/>
            </a:pPr>
            <a:r>
              <a:t>Cong et al., Variational Low-Rank Adaptation Using IVON (2024), Table 1 and Section 2. https://arxiv.org/html/2411.04421v2</a:t>
            </a:r>
            <a:endParaRPr/>
          </a:p>
          <a:p xmlns:a="http://schemas.openxmlformats.org/drawingml/2006/main">
            <a:pPr marL="0" lvl="0" indent="0" algn="l">
              <a:spcBef>
                <a:spcPts val="0"/>
              </a:spcBef>
              <a:spcAft>
                <a:spcPts val="0"/>
              </a:spcAft>
              <a:buNone/>
            </a:pPr>
            <a:r>
              <a:t>Official optimizer: https://github.com/team-approx-bayes/ivon</a:t>
            </a:r>
            <a:endParaRPr/>
          </a:p>
          <a:p xmlns:a="http://schemas.openxmlformats.org/drawingml/2006/main">
            <a:pPr marL="0" lvl="0" indent="0" algn="l">
              <a:spcBef>
                <a:spcPts val="0"/>
              </a:spcBef>
              <a:spcAft>
                <a:spcPts val="0"/>
              </a:spcAft>
              <a:buNone/>
            </a:pPr>
            <a:r>
              <a:t>Model: https://huggingface.co/Qwen/Qwen2.5-0.5B</a:t>
            </a:r>
            <a:endParaRPr/>
          </a:p>
          <a:p xmlns:a="http://schemas.openxmlformats.org/drawingml/2006/main">
            <a:pPr marL="0" lvl="0" indent="0" algn="l">
              <a:spcBef>
                <a:spcPts val="0"/>
              </a:spcBef>
              <a:spcAft>
                <a:spcPts val="0"/>
              </a:spcAft>
              <a:buNone/>
            </a:pPr>
            <a:r>
              <a:t>Dataset: https://huggingface.co/datasets/allenai/ai2_arc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Accuracy and ECE appear as percentages or percentage points in the deck. NLL uses natural logarithms. ECE uses 15 equal-width bins of top-choice confidence. Mean and sample SD are across three seeds, not across examples.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Cong et al., Variational Low-Rank Adaptation Using IVON (2024), Table 1 and Section 2. https://arxiv.org/html/2411.04421v2</a:t>
            </a:r>
            <a:endParaRPr/>
          </a:p>
          <a:p xmlns:a="http://schemas.openxmlformats.org/drawingml/2006/main">
            <a:pPr marL="0" lvl="0" indent="0" algn="l">
              <a:spcBef>
                <a:spcPts val="0"/>
              </a:spcBef>
              <a:spcAft>
                <a:spcPts val="0"/>
              </a:spcAft>
              <a:buNone/>
            </a:pPr>
            <a:r>
              <a:t>These are the original paper averages across six datasets. Do not compare their absolute values directly to our smaller Qwen ARC-Easy subset.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results/quick/summary/summary.json, recomputed independently from each saved test prediction file. These are measured GPU results, not paper values.</a:t>
            </a:r>
            <a:endParaRPr/>
          </a:p>
          <a:p xmlns:a="http://schemas.openxmlformats.org/drawingml/2006/main">
            <a:pPr marL="0" lvl="0" indent="0" algn="l">
              <a:spcBef>
                <a:spcPts val="0"/>
              </a:spcBef>
              <a:spcAft>
                <a:spcPts val="0"/>
              </a:spcAft>
              <a:buNone/>
            </a:pPr>
            <a:r>
              <a:t>Paired differences: [{"method":"ivon_mean","metric":"accuracy","mean":-0.010416666666666666,"std":0.019661027175184243,"n_seeds":3},{"method":"ivon_mean","metric":"ece","mean":0.0010516024194657803,"std":0.023936068708616868,"n_seeds":3},{"method":"ivon_mean","metric":"nll","mean":-0.00016522010070555795,"std":0.0024481922600696725,"n_seeds":3},{"method":"ivon_mean","metric":"brier","mean":0.008852732404797817,"std":0.003388155636339366,"n_seeds":3},{"method":"ivon_mc","metric":"accuracy","mean":-0.037760416666666664,"std":0.03133127451957283,"n_seeds":3},{"method":"ivon_mc","metric":"ece","mean":0.11066362289408667,"std":0.021548370036381933,"n_seeds":3},{"method":"ivon_mc","metric":"nll","mean":0.20327806278508906,"std":0.0443484944758447,"n_seeds":3},{"method":"ivon_mc","metric":"brier","mean":0.11340840026474495,"std":0.025162648670105498,"n_seeds":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Each point is a complete 128-step training run evaluated on the same 256 test questions. Seed is a categorical identifier. Connecting lines help compare the methods within seed and do not imply a temporal trend. Source: each test metric JSON in results/quick.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training_history.json from all six runs. Curves show recorded batch cross-entropy at every update, with no smoothing. IVON evaluates sampled adapters. Its plotted loss excludes the KL term and is not its complete variational objective.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Mean top-choice confidence is averaged over all test examples and then across seeds. Accuracy is the mean over those same seeds. The aggregate gap is not ECE because ECE measures gaps within confidence bins. Source: test prediction JSON files.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results/quick/summary/summary.json and all complete.json files. Training excludes evaluation. Prediction covers the same 256 test examples. These are observed averages, not a hardware benchmark. Peak training CUDA allocation is about 2.96 GiB, not total GPU usage. Six-run pipeline including evaluation took 720.8 seconds.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Cong et al., Variational Low-Rank Adaptation Using IVON (2024), Table 1 and Section 2. https://arxiv.org/html/2411.04421v2</a:t>
            </a:r>
            <a:endParaRPr/>
          </a:p>
          <a:p xmlns:a="http://schemas.openxmlformats.org/drawingml/2006/main">
            <a:pPr marL="0" lvl="0" indent="0" algn="l">
              <a:spcBef>
                <a:spcPts val="0"/>
              </a:spcBef>
              <a:spcAft>
                <a:spcPts val="0"/>
              </a:spcAft>
              <a:buNone/>
            </a:pPr>
            <a:r>
              <a:t>Official optimizer: https://github.com/team-approx-bayes/ivon</a:t>
            </a:r>
            <a:endParaRPr/>
          </a:p>
          <a:p xmlns:a="http://schemas.openxmlformats.org/drawingml/2006/main">
            <a:pPr marL="0" lvl="0" indent="0" algn="l">
              <a:spcBef>
                <a:spcPts val="0"/>
              </a:spcBef>
              <a:spcAft>
                <a:spcPts val="0"/>
              </a:spcAft>
              <a:buNone/>
            </a:pPr>
            <a:r>
              <a:t>Model: https://huggingface.co/Qwen/Qwen2.5-0.5B</a:t>
            </a:r>
            <a:endParaRPr/>
          </a:p>
          <a:p xmlns:a="http://schemas.openxmlformats.org/drawingml/2006/main">
            <a:pPr marL="0" lvl="0" indent="0" algn="l">
              <a:spcBef>
                <a:spcPts val="0"/>
              </a:spcBef>
              <a:spcAft>
                <a:spcPts val="0"/>
              </a:spcAft>
              <a:buNone/>
            </a:pPr>
            <a:r>
              <a:t>Dataset: https://huggingface.co/datasets/allenai/ai2_arc</a:t>
            </a:r>
            <a:endParaRPr/>
          </a:p>
          <a:p xmlns:a="http://schemas.openxmlformats.org/drawingml/2006/main">
            <a:pPr marL="0" lvl="0" indent="0" algn="l">
              <a:spcBef>
                <a:spcPts val="0"/>
              </a:spcBef>
              <a:spcAft>
                <a:spcPts val="0"/>
              </a:spcAft>
              <a:buNone/>
            </a:pPr>
            <a:r>
              <a:t>Our result is a completed small-scale reproduction with an inconclusive mean-predictor calibration result and worse MC performance at fixed settings. Three seeds are insufficient for a strong significance claim. We cannot isolate model size because Qwen also changes model family and pretraining.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d72b6a830a4a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9e467552f14c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9b390910b94b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bf980234f354d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ba0420c1ce44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22bcf60a26487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facb1c5a1304fa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59c6a3e7c0045d4"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530999123b4000" /><Relationship Type="http://schemas.openxmlformats.org/officeDocument/2006/relationships/slideLayout" Target="/ppt/slideLayouts/slideLayout1.xml" Id="R54f1e0df74094862" /><Relationship Type="http://schemas.openxmlformats.org/officeDocument/2006/relationships/slideLayout" Target="/ppt/slideLayouts/slideLayout2.xml" Id="Rf99cbde6de324ef5" /><Relationship Type="http://schemas.openxmlformats.org/officeDocument/2006/relationships/slideLayout" Target="/ppt/slideLayouts/slideLayout3.xml" Id="R46025761a14f4c07" /><Relationship Type="http://schemas.openxmlformats.org/officeDocument/2006/relationships/slideLayout" Target="/ppt/slideLayouts/slideLayout4.xml" Id="Re231c426da364236" /><Relationship Type="http://schemas.openxmlformats.org/officeDocument/2006/relationships/slideLayout" Target="/ppt/slideLayouts/slideLayout5.xml" Id="Rc59d202329fa4d01" /><Relationship Type="http://schemas.openxmlformats.org/officeDocument/2006/relationships/slideLayout" Target="/ppt/slideLayouts/slideLayout6.xml" Id="Rd240fdd7d36544e4" /><Relationship Type="http://schemas.openxmlformats.org/officeDocument/2006/relationships/slideLayout" Target="/ppt/slideLayouts/slideLayout7.xml" Id="R1a7924112502420e" /><Relationship Type="http://schemas.openxmlformats.org/officeDocument/2006/relationships/slideLayout" Target="/ppt/slideLayouts/slideLayout8.xml" Id="R03840addd4044c6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54f1e0df74094862"/>
    <p:sldLayoutId xmlns:r="http://schemas.openxmlformats.org/officeDocument/2006/relationships" id="2147483650" r:id="Rf99cbde6de324ef5"/>
    <p:sldLayoutId xmlns:r="http://schemas.openxmlformats.org/officeDocument/2006/relationships" id="2147483651" r:id="R46025761a14f4c07"/>
    <p:sldLayoutId xmlns:r="http://schemas.openxmlformats.org/officeDocument/2006/relationships" id="2147483652" r:id="Re231c426da364236"/>
    <p:sldLayoutId xmlns:r="http://schemas.openxmlformats.org/officeDocument/2006/relationships" id="2147483653" r:id="Rc59d202329fa4d01"/>
    <p:sldLayoutId xmlns:r="http://schemas.openxmlformats.org/officeDocument/2006/relationships" id="2147483654" r:id="Rd240fdd7d36544e4"/>
    <p:sldLayoutId xmlns:r="http://schemas.openxmlformats.org/officeDocument/2006/relationships" id="2147483655" r:id="R1a7924112502420e"/>
    <p:sldLayoutId xmlns:r="http://schemas.openxmlformats.org/officeDocument/2006/relationships" id="2147483656" r:id="R03840addd4044c63"/>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b923e2c3524cbe" /><Relationship Type="http://schemas.openxmlformats.org/officeDocument/2006/relationships/image" Target="/ppt/media/image.png" Id="Rad89983711734e44" /><Relationship Type="http://schemas.openxmlformats.org/officeDocument/2006/relationships/notesSlide" Target="/ppt/notesSlides/notesSlide1.xml" Id="R18435b17117f4f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f633548b6e41c1" /><Relationship Type="http://schemas.openxmlformats.org/officeDocument/2006/relationships/notesSlide" Target="/ppt/notesSlides/notesSlide2.xml" Id="Rc5af0b34631f49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1ca2738050e4dbd" /><Relationship Type="http://schemas.openxmlformats.org/officeDocument/2006/relationships/notesSlide" Target="/ppt/notesSlides/notesSlide3.xml" Id="R68b9962cd4de4c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c1baafecdbe4e5c" /><Relationship Type="http://schemas.openxmlformats.org/officeDocument/2006/relationships/notesSlide" Target="/ppt/notesSlides/notesSlide4.xml" Id="R53f6955e5d8f4f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e4cfda7dad741b9" /><Relationship Type="http://schemas.openxmlformats.org/officeDocument/2006/relationships/notesSlide" Target="/ppt/notesSlides/notesSlide5.xml" Id="R704f9ae618e949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f4c400d7cc42b3" /><Relationship Type="http://schemas.openxmlformats.org/officeDocument/2006/relationships/notesSlide" Target="/ppt/notesSlides/notesSlide6.xml" Id="R4bd4135b5dc844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7352c141a93486b" /><Relationship Type="http://schemas.openxmlformats.org/officeDocument/2006/relationships/notesSlide" Target="/ppt/notesSlides/notesSlide7.xml" Id="R44ec2ba285314d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24b445047174458" /><Relationship Type="http://schemas.openxmlformats.org/officeDocument/2006/relationships/notesSlide" Target="/ppt/notesSlides/notesSlide8.xml" Id="Rcca959de2cfa4e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9343131f848423d" /><Relationship Type="http://schemas.openxmlformats.org/officeDocument/2006/relationships/notesSlide" Target="/ppt/notesSlides/notesSlide9.xml" Id="Rba7df5dcd6fe48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018c9a072654853" /><Relationship Type="http://schemas.openxmlformats.org/officeDocument/2006/relationships/chart" Target="/ppt/slides/charts/chart1.xml" Id="R71326a3cbf2147c7" /><Relationship Type="http://schemas.openxmlformats.org/officeDocument/2006/relationships/chart" Target="/ppt/slides/charts/chart2.xml" Id="R9d1152c792e548a8" /><Relationship Type="http://schemas.openxmlformats.org/officeDocument/2006/relationships/chart" Target="/ppt/slides/charts/chart3.xml" Id="Rd1b7cbc20e734060" /><Relationship Type="http://schemas.openxmlformats.org/officeDocument/2006/relationships/notesSlide" Target="/ppt/notesSlides/notesSlide10.xml" Id="Re0f2bee2a0a948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387caeedef487c" /><Relationship Type="http://schemas.openxmlformats.org/officeDocument/2006/relationships/chart" Target="/ppt/slides/charts/chart4.xml" Id="R0219dda9e75c486b" /><Relationship Type="http://schemas.openxmlformats.org/officeDocument/2006/relationships/chart" Target="/ppt/slides/charts/chart5.xml" Id="Radd3d305f69e4ea4" /><Relationship Type="http://schemas.openxmlformats.org/officeDocument/2006/relationships/chart" Target="/ppt/slides/charts/chart6.xml" Id="R6b22d5f1d5ba4312" /><Relationship Type="http://schemas.openxmlformats.org/officeDocument/2006/relationships/notesSlide" Target="/ppt/notesSlides/notesSlide11.xml" Id="R256f335f33f5451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20b52493132484c" /><Relationship Type="http://schemas.openxmlformats.org/officeDocument/2006/relationships/chart" Target="/ppt/slides/charts/chart7.xml" Id="Rd362deb7d51649e6" /><Relationship Type="http://schemas.openxmlformats.org/officeDocument/2006/relationships/notesSlide" Target="/ppt/notesSlides/notesSlide12.xml" Id="R8f804a4858de42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a3f658069ae4962" /><Relationship Type="http://schemas.openxmlformats.org/officeDocument/2006/relationships/chart" Target="/ppt/slides/charts/chart8.xml" Id="Rc30d057265434d9d" /><Relationship Type="http://schemas.openxmlformats.org/officeDocument/2006/relationships/chart" Target="/ppt/slides/charts/chart9.xml" Id="Rc67b01561f324c54" /><Relationship Type="http://schemas.openxmlformats.org/officeDocument/2006/relationships/notesSlide" Target="/ppt/notesSlides/notesSlide13.xml" Id="R9e242206209c47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813c737ff6e44c0" /><Relationship Type="http://schemas.openxmlformats.org/officeDocument/2006/relationships/notesSlide" Target="/ppt/notesSlides/notesSlide14.xml" Id="Rf574a530193b4b1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FFFFFF"/>
                </a:solidFill>
                <a:latin typeface="Helvetica Neue"/>
                <a:ea typeface="Helvetica Neue"/>
                <a:cs typeface="Helvetica Neue"/>
              </a:rPr>
              <a:t>Accuracy (%)</a:t>
            </a:r>
          </a:p>
        </c:rich>
      </c:tx>
      <c:overlay val="0"/>
      <c:txPr>
        <a:bodyPr xmlns:a="http://schemas.openxmlformats.org/drawingml/2006/main" anchorCtr="1"/>
        <a:lstStyle xmlns:a="http://schemas.openxmlformats.org/drawingml/2006/main"/>
        <a:p xmlns:a="http://schemas.openxmlformats.org/drawingml/2006/main">
          <a:pPr>
            <a:defRPr sz="1725" b="1">
              <a:solidFill>
                <a:srgbClr val="FFFFFF"/>
              </a:solidFill>
              <a:latin typeface="Helvetica Neue"/>
              <a:ea typeface="Helvetica Neue"/>
              <a:cs typeface="Helvetica Neue"/>
            </a:defRPr>
          </a:pPr>
        </a:p>
      </c:txPr>
    </c:title>
    <c:plotArea>
      <c:lineChart>
        <c:grouping val="standard"/>
        <c:varyColors val="0"/>
        <c:ser>
          <c:idx val="0"/>
          <c:order val="0"/>
          <c:tx>
            <c:v>AdamW</c:v>
          </c:tx>
          <c:spPr>
            <a:ln xmlns:a="http://schemas.openxmlformats.org/drawingml/2006/main" w="19050">
              <a:solidFill>
                <a:srgbClr val="6DCBF4"/>
              </a:solidFill>
            </a:ln>
          </c:spPr>
          <c:marker>
            <c:symbol val="circle"/>
            <c:size val="6"/>
            <c:spPr>
              <a:solidFill xmlns:a="http://schemas.openxmlformats.org/drawingml/2006/main">
                <a:srgbClr val="6DCBF4"/>
              </a:solidFill>
            </c:spPr>
          </c:marker>
          <c:cat>
            <c:numRef>
              <c:f>'Chart Data'!$A$2:$A$4</c:f>
              <c:numCache>
                <c:formatCode>General</c:formatCode>
                <c:ptCount val="3"/>
                <c:pt idx="0">
                  <c:v>21</c:v>
                </c:pt>
                <c:pt idx="1">
                  <c:v>42</c:v>
                </c:pt>
                <c:pt idx="2">
                  <c:v>87</c:v>
                </c:pt>
              </c:numCache>
            </c:numRef>
          </c:cat>
          <c:val>
            <c:numRef>
              <c:f>'Chart Data'!$B$2:$B$4</c:f>
              <c:numCache>
                <c:formatCode>0.0</c:formatCode>
                <c:ptCount val="3"/>
                <c:pt idx="0">
                  <c:v>71.484375</c:v>
                </c:pt>
                <c:pt idx="1">
                  <c:v>75</c:v>
                </c:pt>
                <c:pt idx="2">
                  <c:v>73.046875</c:v>
                </c:pt>
              </c:numCache>
            </c:numRef>
          </c:val>
          <c:smooth val="0"/>
        </c:ser>
        <c:ser>
          <c:idx val="1"/>
          <c:order val="1"/>
          <c:tx>
            <c:v>IVON mean</c:v>
          </c:tx>
          <c:spPr>
            <a:ln xmlns:a="http://schemas.openxmlformats.org/drawingml/2006/main" w="19050">
              <a:solidFill>
                <a:srgbClr val="F3AF68"/>
              </a:solidFill>
            </a:ln>
          </c:spPr>
          <c:marker>
            <c:symbol val="circle"/>
            <c:size val="6"/>
            <c:spPr>
              <a:solidFill xmlns:a="http://schemas.openxmlformats.org/drawingml/2006/main">
                <a:srgbClr val="F3AF68"/>
              </a:solidFill>
            </c:spPr>
          </c:marker>
          <c:cat>
            <c:numRef>
              <c:f>'Chart Data'!$C$2:$C$4</c:f>
              <c:numCache>
                <c:formatCode>General</c:formatCode>
                <c:ptCount val="3"/>
                <c:pt idx="0">
                  <c:v>21</c:v>
                </c:pt>
                <c:pt idx="1">
                  <c:v>42</c:v>
                </c:pt>
                <c:pt idx="2">
                  <c:v>87</c:v>
                </c:pt>
              </c:numCache>
            </c:numRef>
          </c:cat>
          <c:val>
            <c:numRef>
              <c:f>'Chart Data'!$D$2:$D$4</c:f>
              <c:numCache>
                <c:formatCode>0.0</c:formatCode>
                <c:ptCount val="3"/>
                <c:pt idx="0">
                  <c:v>72.265625</c:v>
                </c:pt>
                <c:pt idx="1">
                  <c:v>71.875</c:v>
                </c:pt>
                <c:pt idx="2">
                  <c:v>72.265625</c:v>
                </c:pt>
              </c:numCache>
            </c:numRef>
          </c:val>
          <c:smooth val="0"/>
        </c:ser>
        <c:ser>
          <c:idx val="2"/>
          <c:order val="2"/>
          <c:tx>
            <c:v>IVON 10 draws</c:v>
          </c:tx>
          <c:spPr>
            <a:ln xmlns:a="http://schemas.openxmlformats.org/drawingml/2006/main" w="19050">
              <a:solidFill>
                <a:srgbClr val="BC9DF5"/>
              </a:solidFill>
            </a:ln>
          </c:spPr>
          <c:marker>
            <c:symbol val="circle"/>
            <c:size val="6"/>
            <c:spPr>
              <a:solidFill xmlns:a="http://schemas.openxmlformats.org/drawingml/2006/main">
                <a:srgbClr val="BC9DF5"/>
              </a:solidFill>
            </c:spPr>
          </c:marker>
          <c:cat>
            <c:numRef>
              <c:f>'Chart Data'!$E$2:$E$4</c:f>
              <c:numCache>
                <c:formatCode>General</c:formatCode>
                <c:ptCount val="3"/>
                <c:pt idx="0">
                  <c:v>21</c:v>
                </c:pt>
                <c:pt idx="1">
                  <c:v>42</c:v>
                </c:pt>
                <c:pt idx="2">
                  <c:v>87</c:v>
                </c:pt>
              </c:numCache>
            </c:numRef>
          </c:cat>
          <c:val>
            <c:numRef>
              <c:f>'Chart Data'!$F$2:$F$4</c:f>
              <c:numCache>
                <c:formatCode>0.0</c:formatCode>
                <c:ptCount val="3"/>
                <c:pt idx="0">
                  <c:v>70.703125</c:v>
                </c:pt>
                <c:pt idx="1">
                  <c:v>67.96875</c:v>
                </c:pt>
                <c:pt idx="2">
                  <c:v>69.53125</c:v>
                </c:pt>
              </c:numCache>
            </c:numRef>
          </c:val>
          <c:smooth val="0"/>
        </c:ser>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275">
                    <a:solidFill>
                      <a:srgbClr val="FFFFFF"/>
                    </a:solidFill>
                    <a:latin typeface="Helvetica Neue"/>
                    <a:ea typeface="Helvetica Neue"/>
                    <a:cs typeface="Helvetica Neue"/>
                  </a:rPr>
                  <a:t>Seed</a:t>
                </a:r>
              </a:p>
            </c:rich>
          </c:tx>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catAx>
      <c:valAx>
        <c:axId val="48672768"/>
        <c:scaling>
          <c:orientation val="minMax"/>
          <c:max val="80"/>
          <c:min val="65"/>
        </c:scaling>
        <c:delete val="0"/>
        <c:axPos val="l"/>
        <c:majorGridlines>
          <c:spPr>
            <a:ln xmlns:a="http://schemas.openxmlformats.org/drawingml/2006/main" w="571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50112"/>
        <c:crossBetween val="between"/>
      </c:valAx>
      <c:spPr>
        <a:solidFill xmlns:a="http://schemas.openxmlformats.org/drawingml/2006/main">
          <a:srgbClr val="00000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FFFFF"/>
              </a:solidFill>
              <a:latin typeface="Helvetica Neue"/>
              <a:ea typeface="Helvetica Neue"/>
              <a:cs typeface="Helvetica Neue"/>
            </a:defRPr>
          </a:pPr>
        </a:p>
      </c:txPr>
    </c:legend>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FFFFFF"/>
                </a:solidFill>
                <a:latin typeface="Helvetica Neue"/>
                <a:ea typeface="Helvetica Neue"/>
                <a:cs typeface="Helvetica Neue"/>
              </a:rPr>
              <a:t>ECE (points)</a:t>
            </a:r>
          </a:p>
        </c:rich>
      </c:tx>
      <c:overlay val="0"/>
      <c:txPr>
        <a:bodyPr xmlns:a="http://schemas.openxmlformats.org/drawingml/2006/main" anchorCtr="1"/>
        <a:lstStyle xmlns:a="http://schemas.openxmlformats.org/drawingml/2006/main"/>
        <a:p xmlns:a="http://schemas.openxmlformats.org/drawingml/2006/main">
          <a:pPr>
            <a:defRPr sz="1725" b="1">
              <a:solidFill>
                <a:srgbClr val="FFFFFF"/>
              </a:solidFill>
              <a:latin typeface="Helvetica Neue"/>
              <a:ea typeface="Helvetica Neue"/>
              <a:cs typeface="Helvetica Neue"/>
            </a:defRPr>
          </a:pPr>
        </a:p>
      </c:txPr>
    </c:title>
    <c:plotArea>
      <c:lineChart>
        <c:grouping val="standard"/>
        <c:varyColors val="0"/>
        <c:ser>
          <c:idx val="0"/>
          <c:order val="0"/>
          <c:tx>
            <c:v>AdamW</c:v>
          </c:tx>
          <c:spPr>
            <a:ln xmlns:a="http://schemas.openxmlformats.org/drawingml/2006/main" w="19050">
              <a:solidFill>
                <a:srgbClr val="6DCBF4"/>
              </a:solidFill>
            </a:ln>
          </c:spPr>
          <c:marker>
            <c:symbol val="circle"/>
            <c:size val="6"/>
            <c:spPr>
              <a:solidFill xmlns:a="http://schemas.openxmlformats.org/drawingml/2006/main">
                <a:srgbClr val="6DCBF4"/>
              </a:solidFill>
            </c:spPr>
          </c:marker>
          <c:cat>
            <c:numRef>
              <c:f>'Chart Data'!$A$2:$A$4</c:f>
              <c:numCache>
                <c:formatCode>General</c:formatCode>
                <c:ptCount val="3"/>
                <c:pt idx="0">
                  <c:v>21</c:v>
                </c:pt>
                <c:pt idx="1">
                  <c:v>42</c:v>
                </c:pt>
                <c:pt idx="2">
                  <c:v>87</c:v>
                </c:pt>
              </c:numCache>
            </c:numRef>
          </c:cat>
          <c:val>
            <c:numRef>
              <c:f>'Chart Data'!$B$2:$B$4</c:f>
              <c:numCache>
                <c:formatCode>0.0</c:formatCode>
                <c:ptCount val="3"/>
                <c:pt idx="0">
                  <c:v>7.98586531</c:v>
                </c:pt>
                <c:pt idx="1">
                  <c:v>4.24791265</c:v>
                </c:pt>
                <c:pt idx="2">
                  <c:v>8.42499329</c:v>
                </c:pt>
              </c:numCache>
            </c:numRef>
          </c:val>
          <c:smooth val="0"/>
        </c:ser>
        <c:ser>
          <c:idx val="1"/>
          <c:order val="1"/>
          <c:tx>
            <c:v>IVON mean</c:v>
          </c:tx>
          <c:spPr>
            <a:ln xmlns:a="http://schemas.openxmlformats.org/drawingml/2006/main" w="19050">
              <a:solidFill>
                <a:srgbClr val="F3AF68"/>
              </a:solidFill>
            </a:ln>
          </c:spPr>
          <c:marker>
            <c:symbol val="circle"/>
            <c:size val="6"/>
            <c:spPr>
              <a:solidFill xmlns:a="http://schemas.openxmlformats.org/drawingml/2006/main">
                <a:srgbClr val="F3AF68"/>
              </a:solidFill>
            </c:spPr>
          </c:marker>
          <c:cat>
            <c:numRef>
              <c:f>'Chart Data'!$C$2:$C$4</c:f>
              <c:numCache>
                <c:formatCode>General</c:formatCode>
                <c:ptCount val="3"/>
                <c:pt idx="0">
                  <c:v>21</c:v>
                </c:pt>
                <c:pt idx="1">
                  <c:v>42</c:v>
                </c:pt>
                <c:pt idx="2">
                  <c:v>87</c:v>
                </c:pt>
              </c:numCache>
            </c:numRef>
          </c:cat>
          <c:val>
            <c:numRef>
              <c:f>'Chart Data'!$D$2:$D$4</c:f>
              <c:numCache>
                <c:formatCode>0.0</c:formatCode>
                <c:ptCount val="3"/>
                <c:pt idx="0">
                  <c:v>6.66514571</c:v>
                </c:pt>
                <c:pt idx="1">
                  <c:v>7.1165015</c:v>
                </c:pt>
                <c:pt idx="2">
                  <c:v>7.19260477</c:v>
                </c:pt>
              </c:numCache>
            </c:numRef>
          </c:val>
          <c:smooth val="0"/>
        </c:ser>
        <c:ser>
          <c:idx val="2"/>
          <c:order val="2"/>
          <c:tx>
            <c:v>IVON 10 draws</c:v>
          </c:tx>
          <c:spPr>
            <a:ln xmlns:a="http://schemas.openxmlformats.org/drawingml/2006/main" w="19050">
              <a:solidFill>
                <a:srgbClr val="BC9DF5"/>
              </a:solidFill>
            </a:ln>
          </c:spPr>
          <c:marker>
            <c:symbol val="circle"/>
            <c:size val="6"/>
            <c:spPr>
              <a:solidFill xmlns:a="http://schemas.openxmlformats.org/drawingml/2006/main">
                <a:srgbClr val="BC9DF5"/>
              </a:solidFill>
            </c:spPr>
          </c:marker>
          <c:cat>
            <c:numRef>
              <c:f>'Chart Data'!$E$2:$E$4</c:f>
              <c:numCache>
                <c:formatCode>General</c:formatCode>
                <c:ptCount val="3"/>
                <c:pt idx="0">
                  <c:v>21</c:v>
                </c:pt>
                <c:pt idx="1">
                  <c:v>42</c:v>
                </c:pt>
                <c:pt idx="2">
                  <c:v>87</c:v>
                </c:pt>
              </c:numCache>
            </c:numRef>
          </c:cat>
          <c:val>
            <c:numRef>
              <c:f>'Chart Data'!$F$2:$F$4</c:f>
              <c:numCache>
                <c:formatCode>0.0</c:formatCode>
                <c:ptCount val="3"/>
                <c:pt idx="0">
                  <c:v>19.66920203</c:v>
                </c:pt>
                <c:pt idx="1">
                  <c:v>17.09332921</c:v>
                </c:pt>
                <c:pt idx="2">
                  <c:v>17.09532689</c:v>
                </c:pt>
              </c:numCache>
            </c:numRef>
          </c:val>
          <c:smooth val="0"/>
        </c:ser>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275">
                    <a:solidFill>
                      <a:srgbClr val="FFFFFF"/>
                    </a:solidFill>
                    <a:latin typeface="Helvetica Neue"/>
                    <a:ea typeface="Helvetica Neue"/>
                    <a:cs typeface="Helvetica Neue"/>
                  </a:rPr>
                  <a:t>Seed</a:t>
                </a:r>
              </a:p>
            </c:rich>
          </c:tx>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catAx>
      <c:valAx>
        <c:axId val="48672768"/>
        <c:scaling>
          <c:orientation val="minMax"/>
          <c:max val="22"/>
          <c:min val="0"/>
        </c:scaling>
        <c:delete val="0"/>
        <c:axPos val="l"/>
        <c:majorGridlines>
          <c:spPr>
            <a:ln xmlns:a="http://schemas.openxmlformats.org/drawingml/2006/main" w="571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50112"/>
        <c:crossBetween val="between"/>
      </c:valAx>
      <c:spPr>
        <a:solidFill xmlns:a="http://schemas.openxmlformats.org/drawingml/2006/main">
          <a:srgbClr val="00000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FFFFF"/>
              </a:solidFill>
              <a:latin typeface="Helvetica Neue"/>
              <a:ea typeface="Helvetica Neue"/>
              <a:cs typeface="Helvetica Neue"/>
            </a:defRPr>
          </a:pPr>
        </a:p>
      </c:txPr>
    </c:legend>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FFFFFF"/>
                </a:solidFill>
                <a:latin typeface="Helvetica Neue"/>
                <a:ea typeface="Helvetica Neue"/>
                <a:cs typeface="Helvetica Neue"/>
              </a:rPr>
              <a:t>NLL</a:t>
            </a:r>
          </a:p>
        </c:rich>
      </c:tx>
      <c:overlay val="0"/>
      <c:txPr>
        <a:bodyPr xmlns:a="http://schemas.openxmlformats.org/drawingml/2006/main" anchorCtr="1"/>
        <a:lstStyle xmlns:a="http://schemas.openxmlformats.org/drawingml/2006/main"/>
        <a:p xmlns:a="http://schemas.openxmlformats.org/drawingml/2006/main">
          <a:pPr>
            <a:defRPr sz="1725" b="1">
              <a:solidFill>
                <a:srgbClr val="FFFFFF"/>
              </a:solidFill>
              <a:latin typeface="Helvetica Neue"/>
              <a:ea typeface="Helvetica Neue"/>
              <a:cs typeface="Helvetica Neue"/>
            </a:defRPr>
          </a:pPr>
        </a:p>
      </c:txPr>
    </c:title>
    <c:plotArea>
      <c:lineChart>
        <c:grouping val="standard"/>
        <c:varyColors val="0"/>
        <c:ser>
          <c:idx val="0"/>
          <c:order val="0"/>
          <c:tx>
            <c:v>AdamW</c:v>
          </c:tx>
          <c:spPr>
            <a:ln xmlns:a="http://schemas.openxmlformats.org/drawingml/2006/main" w="19050">
              <a:solidFill>
                <a:srgbClr val="6DCBF4"/>
              </a:solidFill>
            </a:ln>
          </c:spPr>
          <c:marker>
            <c:symbol val="circle"/>
            <c:size val="6"/>
            <c:spPr>
              <a:solidFill xmlns:a="http://schemas.openxmlformats.org/drawingml/2006/main">
                <a:srgbClr val="6DCBF4"/>
              </a:solidFill>
            </c:spPr>
          </c:marker>
          <c:cat>
            <c:numRef>
              <c:f>'Chart Data'!$A$2:$A$4</c:f>
              <c:numCache>
                <c:formatCode>General</c:formatCode>
                <c:ptCount val="3"/>
                <c:pt idx="0">
                  <c:v>21</c:v>
                </c:pt>
                <c:pt idx="1">
                  <c:v>42</c:v>
                </c:pt>
                <c:pt idx="2">
                  <c:v>87</c:v>
                </c:pt>
              </c:numCache>
            </c:numRef>
          </c:cat>
          <c:val>
            <c:numRef>
              <c:f>'Chart Data'!$B$2:$B$4</c:f>
              <c:numCache>
                <c:formatCode>0.0</c:formatCode>
                <c:ptCount val="3"/>
                <c:pt idx="0">
                  <c:v>0.67566341</c:v>
                </c:pt>
                <c:pt idx="1">
                  <c:v>0.67907007</c:v>
                </c:pt>
                <c:pt idx="2">
                  <c:v>0.68615082</c:v>
                </c:pt>
              </c:numCache>
            </c:numRef>
          </c:val>
          <c:smooth val="0"/>
        </c:ser>
        <c:ser>
          <c:idx val="1"/>
          <c:order val="1"/>
          <c:tx>
            <c:v>IVON mean</c:v>
          </c:tx>
          <c:spPr>
            <a:ln xmlns:a="http://schemas.openxmlformats.org/drawingml/2006/main" w="19050">
              <a:solidFill>
                <a:srgbClr val="F3AF68"/>
              </a:solidFill>
            </a:ln>
          </c:spPr>
          <c:marker>
            <c:symbol val="circle"/>
            <c:size val="6"/>
            <c:spPr>
              <a:solidFill xmlns:a="http://schemas.openxmlformats.org/drawingml/2006/main">
                <a:srgbClr val="F3AF68"/>
              </a:solidFill>
            </c:spPr>
          </c:marker>
          <c:cat>
            <c:numRef>
              <c:f>'Chart Data'!$C$2:$C$4</c:f>
              <c:numCache>
                <c:formatCode>General</c:formatCode>
                <c:ptCount val="3"/>
                <c:pt idx="0">
                  <c:v>21</c:v>
                </c:pt>
                <c:pt idx="1">
                  <c:v>42</c:v>
                </c:pt>
                <c:pt idx="2">
                  <c:v>87</c:v>
                </c:pt>
              </c:numCache>
            </c:numRef>
          </c:cat>
          <c:val>
            <c:numRef>
              <c:f>'Chart Data'!$D$2:$D$4</c:f>
              <c:numCache>
                <c:formatCode>0.0</c:formatCode>
                <c:ptCount val="3"/>
                <c:pt idx="0">
                  <c:v>0.67656732</c:v>
                </c:pt>
                <c:pt idx="1">
                  <c:v>0.68063664</c:v>
                </c:pt>
                <c:pt idx="2">
                  <c:v>0.68318468</c:v>
                </c:pt>
              </c:numCache>
            </c:numRef>
          </c:val>
          <c:smooth val="0"/>
        </c:ser>
        <c:ser>
          <c:idx val="2"/>
          <c:order val="2"/>
          <c:tx>
            <c:v>IVON 10 draws</c:v>
          </c:tx>
          <c:spPr>
            <a:ln xmlns:a="http://schemas.openxmlformats.org/drawingml/2006/main" w="19050">
              <a:solidFill>
                <a:srgbClr val="BC9DF5"/>
              </a:solidFill>
            </a:ln>
          </c:spPr>
          <c:marker>
            <c:symbol val="circle"/>
            <c:size val="6"/>
            <c:spPr>
              <a:solidFill xmlns:a="http://schemas.openxmlformats.org/drawingml/2006/main">
                <a:srgbClr val="BC9DF5"/>
              </a:solidFill>
            </c:spPr>
          </c:marker>
          <c:cat>
            <c:numRef>
              <c:f>'Chart Data'!$E$2:$E$4</c:f>
              <c:numCache>
                <c:formatCode>General</c:formatCode>
                <c:ptCount val="3"/>
                <c:pt idx="0">
                  <c:v>21</c:v>
                </c:pt>
                <c:pt idx="1">
                  <c:v>42</c:v>
                </c:pt>
                <c:pt idx="2">
                  <c:v>87</c:v>
                </c:pt>
              </c:numCache>
            </c:numRef>
          </c:cat>
          <c:val>
            <c:numRef>
              <c:f>'Chart Data'!$F$2:$F$4</c:f>
              <c:numCache>
                <c:formatCode>0.0</c:formatCode>
                <c:ptCount val="3"/>
                <c:pt idx="0">
                  <c:v>0.89037078</c:v>
                </c:pt>
                <c:pt idx="1">
                  <c:v>0.91986329</c:v>
                </c:pt>
                <c:pt idx="2">
                  <c:v>0.84048441</c:v>
                </c:pt>
              </c:numCache>
            </c:numRef>
          </c:val>
          <c:smooth val="0"/>
        </c:ser>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275">
                    <a:solidFill>
                      <a:srgbClr val="FFFFFF"/>
                    </a:solidFill>
                    <a:latin typeface="Helvetica Neue"/>
                    <a:ea typeface="Helvetica Neue"/>
                    <a:cs typeface="Helvetica Neue"/>
                  </a:rPr>
                  <a:t>Seed</a:t>
                </a:r>
              </a:p>
            </c:rich>
          </c:tx>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catAx>
      <c:valAx>
        <c:axId val="48672768"/>
        <c:scaling>
          <c:orientation val="minMax"/>
          <c:max val="1"/>
          <c:min val="0.6"/>
        </c:scaling>
        <c:delete val="0"/>
        <c:axPos val="l"/>
        <c:majorGridlines>
          <c:spPr>
            <a:ln xmlns:a="http://schemas.openxmlformats.org/drawingml/2006/main" w="5715">
              <a:solidFill>
                <a:srgbClr val="333333"/>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50112"/>
        <c:crossBetween val="between"/>
      </c:valAx>
      <c:spPr>
        <a:solidFill xmlns:a="http://schemas.openxmlformats.org/drawingml/2006/main">
          <a:srgbClr val="00000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FFFFF"/>
              </a:solidFill>
              <a:latin typeface="Helvetica Neue"/>
              <a:ea typeface="Helvetica Neue"/>
              <a:cs typeface="Helvetica Neue"/>
            </a:defRPr>
          </a:pPr>
        </a:p>
      </c:txPr>
    </c:legend>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FFFFFF"/>
                </a:solidFill>
                <a:latin typeface="Helvetica Neue"/>
                <a:ea typeface="Helvetica Neue"/>
                <a:cs typeface="Helvetica Neue"/>
              </a:rPr>
              <a:t>Seed 21</a:t>
            </a:r>
          </a:p>
        </c:rich>
      </c:tx>
      <c:overlay val="0"/>
      <c:txPr>
        <a:bodyPr xmlns:a="http://schemas.openxmlformats.org/drawingml/2006/main" anchorCtr="1"/>
        <a:lstStyle xmlns:a="http://schemas.openxmlformats.org/drawingml/2006/main"/>
        <a:p xmlns:a="http://schemas.openxmlformats.org/drawingml/2006/main">
          <a:pPr>
            <a:defRPr sz="1725" b="1">
              <a:solidFill>
                <a:srgbClr val="FFFFFF"/>
              </a:solidFill>
              <a:latin typeface="Helvetica Neue"/>
              <a:ea typeface="Helvetica Neue"/>
              <a:cs typeface="Helvetica Neue"/>
            </a:defRPr>
          </a:pPr>
        </a:p>
      </c:txPr>
    </c:title>
    <c:plotArea>
      <c:scatterChart>
        <c:scatterStyle val="line"/>
        <c:ser>
          <c:idx val="0"/>
          <c:order val="0"/>
          <c:tx>
            <c:v>AdamW</c:v>
          </c:tx>
          <c:spPr>
            <a:ln xmlns:a="http://schemas.openxmlformats.org/drawingml/2006/main" w="12383">
              <a:solidFill>
                <a:srgbClr val="6DCBF4"/>
              </a:solidFill>
            </a:ln>
          </c:spPr>
          <c:marker>
            <c:symbol val="none"/>
          </c:marker>
          <c:xVal>
            <c:numRef>
              <c:f>'Chart Data'!$A$2:$A$129</c:f>
              <c:numCache>
                <c:formatCode>General</c:formatCode>
                <c:ptCount val="1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numCache>
            </c:numRef>
          </c:xVal>
          <c:yVal>
            <c:numRef>
              <c:f>'Chart Data'!$B$2:$B$129</c:f>
              <c:numCache>
                <c:formatCode>0.0</c:formatCode>
                <c:ptCount val="128"/>
                <c:pt idx="0">
                  <c:v>0.7143531</c:v>
                </c:pt>
                <c:pt idx="1">
                  <c:v>0.62918189</c:v>
                </c:pt>
                <c:pt idx="2">
                  <c:v>0.71172026</c:v>
                </c:pt>
                <c:pt idx="3">
                  <c:v>0.62702936</c:v>
                </c:pt>
                <c:pt idx="4">
                  <c:v>0.91197914</c:v>
                </c:pt>
                <c:pt idx="5">
                  <c:v>0.37540293</c:v>
                </c:pt>
                <c:pt idx="6">
                  <c:v>0.61492178</c:v>
                </c:pt>
                <c:pt idx="7">
                  <c:v>0.66539454</c:v>
                </c:pt>
                <c:pt idx="8">
                  <c:v>0.39598717</c:v>
                </c:pt>
                <c:pt idx="9">
                  <c:v>0.95555332</c:v>
                </c:pt>
                <c:pt idx="10">
                  <c:v>0.38181388</c:v>
                </c:pt>
                <c:pt idx="11">
                  <c:v>0.24259027</c:v>
                </c:pt>
                <c:pt idx="12">
                  <c:v>0.53450017</c:v>
                </c:pt>
                <c:pt idx="13">
                  <c:v>0.66413811</c:v>
                </c:pt>
                <c:pt idx="14">
                  <c:v>0.65026951</c:v>
                </c:pt>
                <c:pt idx="15">
                  <c:v>0.75456244</c:v>
                </c:pt>
                <c:pt idx="16">
                  <c:v>0.38024554</c:v>
                </c:pt>
                <c:pt idx="17">
                  <c:v>0.1560722</c:v>
                </c:pt>
                <c:pt idx="18">
                  <c:v>0.6174219</c:v>
                </c:pt>
                <c:pt idx="19">
                  <c:v>0.48519081</c:v>
                </c:pt>
                <c:pt idx="20">
                  <c:v>0.63270181</c:v>
                </c:pt>
                <c:pt idx="21">
                  <c:v>0.85257658</c:v>
                </c:pt>
                <c:pt idx="22">
                  <c:v>0.70405458</c:v>
                </c:pt>
                <c:pt idx="23">
                  <c:v>0.63280292</c:v>
                </c:pt>
                <c:pt idx="24">
                  <c:v>0.31887005</c:v>
                </c:pt>
                <c:pt idx="25">
                  <c:v>0.41033997</c:v>
                </c:pt>
                <c:pt idx="26">
                  <c:v>0.56950478</c:v>
                </c:pt>
                <c:pt idx="27">
                  <c:v>0.77329242</c:v>
                </c:pt>
                <c:pt idx="28">
                  <c:v>1.06348507</c:v>
                </c:pt>
                <c:pt idx="29">
                  <c:v>0.65478313</c:v>
                </c:pt>
                <c:pt idx="30">
                  <c:v>0.69141409</c:v>
                </c:pt>
                <c:pt idx="31">
                  <c:v>0.48086005</c:v>
                </c:pt>
                <c:pt idx="32">
                  <c:v>0.60237769</c:v>
                </c:pt>
                <c:pt idx="33">
                  <c:v>0.92392638</c:v>
                </c:pt>
                <c:pt idx="34">
                  <c:v>0.46558741</c:v>
                </c:pt>
                <c:pt idx="35">
                  <c:v>0.67587361</c:v>
                </c:pt>
                <c:pt idx="36">
                  <c:v>0.68605302</c:v>
                </c:pt>
                <c:pt idx="37">
                  <c:v>1.06776321</c:v>
                </c:pt>
                <c:pt idx="38">
                  <c:v>0.670642</c:v>
                </c:pt>
                <c:pt idx="39">
                  <c:v>0.5581617</c:v>
                </c:pt>
                <c:pt idx="40">
                  <c:v>0.23425663</c:v>
                </c:pt>
                <c:pt idx="41">
                  <c:v>0.27400318</c:v>
                </c:pt>
                <c:pt idx="42">
                  <c:v>0.72173485</c:v>
                </c:pt>
                <c:pt idx="43">
                  <c:v>0.97067502</c:v>
                </c:pt>
                <c:pt idx="44">
                  <c:v>0.29648733</c:v>
                </c:pt>
                <c:pt idx="45">
                  <c:v>0.87935823</c:v>
                </c:pt>
                <c:pt idx="46">
                  <c:v>1.09062442</c:v>
                </c:pt>
                <c:pt idx="47">
                  <c:v>0.28374808</c:v>
                </c:pt>
                <c:pt idx="48">
                  <c:v>1.09305257</c:v>
                </c:pt>
                <c:pt idx="49">
                  <c:v>0.5918901</c:v>
                </c:pt>
                <c:pt idx="50">
                  <c:v>0.46459825</c:v>
                </c:pt>
                <c:pt idx="51">
                  <c:v>0.80502486</c:v>
                </c:pt>
                <c:pt idx="52">
                  <c:v>0.47709142</c:v>
                </c:pt>
                <c:pt idx="53">
                  <c:v>0.52795658</c:v>
                </c:pt>
                <c:pt idx="54">
                  <c:v>1.03526625</c:v>
                </c:pt>
                <c:pt idx="55">
                  <c:v>0.192963</c:v>
                </c:pt>
                <c:pt idx="56">
                  <c:v>0.21890999</c:v>
                </c:pt>
                <c:pt idx="57">
                  <c:v>0.59658365</c:v>
                </c:pt>
                <c:pt idx="58">
                  <c:v>0.40786525</c:v>
                </c:pt>
                <c:pt idx="59">
                  <c:v>0.93508959</c:v>
                </c:pt>
                <c:pt idx="60">
                  <c:v>0.58594117</c:v>
                </c:pt>
                <c:pt idx="61">
                  <c:v>0.63151473</c:v>
                </c:pt>
                <c:pt idx="62">
                  <c:v>0.73347721</c:v>
                </c:pt>
                <c:pt idx="63">
                  <c:v>0.39555003</c:v>
                </c:pt>
                <c:pt idx="64">
                  <c:v>0.1978749</c:v>
                </c:pt>
                <c:pt idx="65">
                  <c:v>0.46741468</c:v>
                </c:pt>
                <c:pt idx="66">
                  <c:v>0.18871064</c:v>
                </c:pt>
                <c:pt idx="67">
                  <c:v>0.33973856</c:v>
                </c:pt>
                <c:pt idx="68">
                  <c:v>0.28174491</c:v>
                </c:pt>
                <c:pt idx="69">
                  <c:v>0.41785794</c:v>
                </c:pt>
                <c:pt idx="70">
                  <c:v>0.32674631</c:v>
                </c:pt>
                <c:pt idx="71">
                  <c:v>0.959723</c:v>
                </c:pt>
                <c:pt idx="72">
                  <c:v>0.59635913</c:v>
                </c:pt>
                <c:pt idx="73">
                  <c:v>0.22913761</c:v>
                </c:pt>
                <c:pt idx="74">
                  <c:v>0.52139264</c:v>
                </c:pt>
                <c:pt idx="75">
                  <c:v>0.39515172</c:v>
                </c:pt>
                <c:pt idx="76">
                  <c:v>0.61205499</c:v>
                </c:pt>
                <c:pt idx="77">
                  <c:v>0.27367254</c:v>
                </c:pt>
                <c:pt idx="78">
                  <c:v>0.46542591</c:v>
                </c:pt>
                <c:pt idx="79">
                  <c:v>0.33919536</c:v>
                </c:pt>
                <c:pt idx="80">
                  <c:v>0.7151463</c:v>
                </c:pt>
                <c:pt idx="81">
                  <c:v>0.47385488</c:v>
                </c:pt>
                <c:pt idx="82">
                  <c:v>0.54421562</c:v>
                </c:pt>
                <c:pt idx="83">
                  <c:v>0.31537637</c:v>
                </c:pt>
                <c:pt idx="84">
                  <c:v>0.51349415</c:v>
                </c:pt>
                <c:pt idx="85">
                  <c:v>0.50862248</c:v>
                </c:pt>
                <c:pt idx="86">
                  <c:v>0.51368478</c:v>
                </c:pt>
                <c:pt idx="87">
                  <c:v>0.5381425</c:v>
                </c:pt>
                <c:pt idx="88">
                  <c:v>0.65201399</c:v>
                </c:pt>
                <c:pt idx="89">
                  <c:v>0.33911382</c:v>
                </c:pt>
                <c:pt idx="90">
                  <c:v>0.29168998</c:v>
                </c:pt>
                <c:pt idx="91">
                  <c:v>0.40442187</c:v>
                </c:pt>
                <c:pt idx="92">
                  <c:v>0.53014413</c:v>
                </c:pt>
                <c:pt idx="93">
                  <c:v>0.28298192</c:v>
                </c:pt>
                <c:pt idx="94">
                  <c:v>0.51118569</c:v>
                </c:pt>
                <c:pt idx="95">
                  <c:v>0.66992691</c:v>
                </c:pt>
                <c:pt idx="96">
                  <c:v>0.18626316</c:v>
                </c:pt>
                <c:pt idx="97">
                  <c:v>0.29127106</c:v>
                </c:pt>
                <c:pt idx="98">
                  <c:v>0.26670033</c:v>
                </c:pt>
                <c:pt idx="99">
                  <c:v>0.32212406</c:v>
                </c:pt>
                <c:pt idx="100">
                  <c:v>0.48839733</c:v>
                </c:pt>
                <c:pt idx="101">
                  <c:v>0.4674218</c:v>
                </c:pt>
                <c:pt idx="102">
                  <c:v>0.19483873</c:v>
                </c:pt>
                <c:pt idx="103">
                  <c:v>1.00483662</c:v>
                </c:pt>
                <c:pt idx="104">
                  <c:v>0.4006096</c:v>
                </c:pt>
                <c:pt idx="105">
                  <c:v>0.69341671</c:v>
                </c:pt>
                <c:pt idx="106">
                  <c:v>0.23714631</c:v>
                </c:pt>
                <c:pt idx="107">
                  <c:v>0.32533123</c:v>
                </c:pt>
                <c:pt idx="108">
                  <c:v>0.50301035</c:v>
                </c:pt>
                <c:pt idx="109">
                  <c:v>0.53107554</c:v>
                </c:pt>
                <c:pt idx="110">
                  <c:v>0.8130945</c:v>
                </c:pt>
                <c:pt idx="111">
                  <c:v>0.83100584</c:v>
                </c:pt>
                <c:pt idx="112">
                  <c:v>0.07436952</c:v>
                </c:pt>
                <c:pt idx="113">
                  <c:v>0.05922908</c:v>
                </c:pt>
                <c:pt idx="114">
                  <c:v>0.11193333</c:v>
                </c:pt>
                <c:pt idx="115">
                  <c:v>0.08364138</c:v>
                </c:pt>
                <c:pt idx="116">
                  <c:v>0.14607673</c:v>
                </c:pt>
                <c:pt idx="117">
                  <c:v>0.16136165</c:v>
                </c:pt>
                <c:pt idx="118">
                  <c:v>0.75688978</c:v>
                </c:pt>
                <c:pt idx="119">
                  <c:v>0.61257344</c:v>
                </c:pt>
                <c:pt idx="120">
                  <c:v>0.12796859</c:v>
                </c:pt>
                <c:pt idx="121">
                  <c:v>0.28761755</c:v>
                </c:pt>
                <c:pt idx="122">
                  <c:v>1.06625396</c:v>
                </c:pt>
                <c:pt idx="123">
                  <c:v>0.21779251</c:v>
                </c:pt>
                <c:pt idx="124">
                  <c:v>0.30319475</c:v>
                </c:pt>
                <c:pt idx="125">
                  <c:v>0.57302484</c:v>
                </c:pt>
                <c:pt idx="126">
                  <c:v>0.50480536</c:v>
                </c:pt>
                <c:pt idx="127">
                  <c:v>0.50241199</c:v>
                </c:pt>
              </c:numCache>
            </c:numRef>
          </c:yVal>
        </c:ser>
        <c:ser>
          <c:idx val="1"/>
          <c:order val="1"/>
          <c:tx>
            <c:v>IVON</c:v>
          </c:tx>
          <c:spPr>
            <a:ln xmlns:a="http://schemas.openxmlformats.org/drawingml/2006/main" w="12383">
              <a:solidFill>
                <a:srgbClr val="F3AF68"/>
              </a:solidFill>
            </a:ln>
          </c:spPr>
          <c:marker>
            <c:symbol val="none"/>
          </c:marker>
          <c:xVal>
            <c:numRef>
              <c:f>'Chart Data'!$C$2:$C$129</c:f>
              <c:numCache>
                <c:formatCode>General</c:formatCode>
                <c:ptCount val="1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numCache>
            </c:numRef>
          </c:xVal>
          <c:yVal>
            <c:numRef>
              <c:f>'Chart Data'!$D$2:$D$129</c:f>
              <c:numCache>
                <c:formatCode>0.0</c:formatCode>
                <c:ptCount val="128"/>
                <c:pt idx="0">
                  <c:v>1.4008323</c:v>
                </c:pt>
                <c:pt idx="1">
                  <c:v>0.9246279</c:v>
                </c:pt>
                <c:pt idx="2">
                  <c:v>1.36700517</c:v>
                </c:pt>
                <c:pt idx="3">
                  <c:v>0.95129704</c:v>
                </c:pt>
                <c:pt idx="4">
                  <c:v>1.4568882</c:v>
                </c:pt>
                <c:pt idx="5">
                  <c:v>0.99658138</c:v>
                </c:pt>
                <c:pt idx="6">
                  <c:v>1.19995332</c:v>
                </c:pt>
                <c:pt idx="7">
                  <c:v>0.87627178</c:v>
                </c:pt>
                <c:pt idx="8">
                  <c:v>0.95163333</c:v>
                </c:pt>
                <c:pt idx="9">
                  <c:v>2.17211258</c:v>
                </c:pt>
                <c:pt idx="10">
                  <c:v>0.90475172</c:v>
                </c:pt>
                <c:pt idx="11">
                  <c:v>0.91415751</c:v>
                </c:pt>
                <c:pt idx="12">
                  <c:v>1.16666389</c:v>
                </c:pt>
                <c:pt idx="13">
                  <c:v>0.96732038</c:v>
                </c:pt>
                <c:pt idx="14">
                  <c:v>1.24792987</c:v>
                </c:pt>
                <c:pt idx="15">
                  <c:v>0.87720096</c:v>
                </c:pt>
                <c:pt idx="16">
                  <c:v>1.14653039</c:v>
                </c:pt>
                <c:pt idx="17">
                  <c:v>0.90500918</c:v>
                </c:pt>
                <c:pt idx="18">
                  <c:v>1.2138015</c:v>
                </c:pt>
                <c:pt idx="19">
                  <c:v>1.2991156</c:v>
                </c:pt>
                <c:pt idx="20">
                  <c:v>0.98365927</c:v>
                </c:pt>
                <c:pt idx="21">
                  <c:v>1.21150911</c:v>
                </c:pt>
                <c:pt idx="22">
                  <c:v>0.9996196</c:v>
                </c:pt>
                <c:pt idx="23">
                  <c:v>1.23293191</c:v>
                </c:pt>
                <c:pt idx="24">
                  <c:v>0.98604494</c:v>
                </c:pt>
                <c:pt idx="25">
                  <c:v>1.19534877</c:v>
                </c:pt>
                <c:pt idx="26">
                  <c:v>0.91244942</c:v>
                </c:pt>
                <c:pt idx="27">
                  <c:v>1.07971513</c:v>
                </c:pt>
                <c:pt idx="28">
                  <c:v>1.26390588</c:v>
                </c:pt>
                <c:pt idx="29">
                  <c:v>0.76971304</c:v>
                </c:pt>
                <c:pt idx="30">
                  <c:v>0.87267059</c:v>
                </c:pt>
                <c:pt idx="31">
                  <c:v>1.0522005</c:v>
                </c:pt>
                <c:pt idx="32">
                  <c:v>0.84156156</c:v>
                </c:pt>
                <c:pt idx="33">
                  <c:v>1.39998561</c:v>
                </c:pt>
                <c:pt idx="34">
                  <c:v>1.01920822</c:v>
                </c:pt>
                <c:pt idx="35">
                  <c:v>0.937938</c:v>
                </c:pt>
                <c:pt idx="36">
                  <c:v>0.89915562</c:v>
                </c:pt>
                <c:pt idx="37">
                  <c:v>0.82601267</c:v>
                </c:pt>
                <c:pt idx="38">
                  <c:v>0.80523926</c:v>
                </c:pt>
                <c:pt idx="39">
                  <c:v>0.78166342</c:v>
                </c:pt>
                <c:pt idx="40">
                  <c:v>0.82815754</c:v>
                </c:pt>
                <c:pt idx="41">
                  <c:v>1.095523</c:v>
                </c:pt>
                <c:pt idx="42">
                  <c:v>1.1792087</c:v>
                </c:pt>
                <c:pt idx="43">
                  <c:v>1.36184323</c:v>
                </c:pt>
                <c:pt idx="44">
                  <c:v>0.65104073</c:v>
                </c:pt>
                <c:pt idx="45">
                  <c:v>1.67875081</c:v>
                </c:pt>
                <c:pt idx="46">
                  <c:v>1.71272832</c:v>
                </c:pt>
                <c:pt idx="47">
                  <c:v>0.78788882</c:v>
                </c:pt>
                <c:pt idx="48">
                  <c:v>1.31940436</c:v>
                </c:pt>
                <c:pt idx="49">
                  <c:v>1.15726638</c:v>
                </c:pt>
                <c:pt idx="50">
                  <c:v>0.58556136</c:v>
                </c:pt>
                <c:pt idx="51">
                  <c:v>0.53739339</c:v>
                </c:pt>
                <c:pt idx="52">
                  <c:v>0.99053466</c:v>
                </c:pt>
                <c:pt idx="53">
                  <c:v>0.94367984</c:v>
                </c:pt>
                <c:pt idx="54">
                  <c:v>0.9071281</c:v>
                </c:pt>
                <c:pt idx="55">
                  <c:v>0.6474131</c:v>
                </c:pt>
                <c:pt idx="56">
                  <c:v>0.76574889</c:v>
                </c:pt>
                <c:pt idx="57">
                  <c:v>1.03384009</c:v>
                </c:pt>
                <c:pt idx="58">
                  <c:v>1.32725471</c:v>
                </c:pt>
                <c:pt idx="59">
                  <c:v>1.03042406</c:v>
                </c:pt>
                <c:pt idx="60">
                  <c:v>1.11773875</c:v>
                </c:pt>
                <c:pt idx="61">
                  <c:v>0.74856102</c:v>
                </c:pt>
                <c:pt idx="62">
                  <c:v>1.21913683</c:v>
                </c:pt>
                <c:pt idx="63">
                  <c:v>0.95905304</c:v>
                </c:pt>
                <c:pt idx="64">
                  <c:v>0.64140517</c:v>
                </c:pt>
                <c:pt idx="65">
                  <c:v>0.85699135</c:v>
                </c:pt>
                <c:pt idx="66">
                  <c:v>0.53966632</c:v>
                </c:pt>
                <c:pt idx="67">
                  <c:v>0.99461392</c:v>
                </c:pt>
                <c:pt idx="68">
                  <c:v>0.86119384</c:v>
                </c:pt>
                <c:pt idx="69">
                  <c:v>0.92304701</c:v>
                </c:pt>
                <c:pt idx="70">
                  <c:v>0.69849916</c:v>
                </c:pt>
                <c:pt idx="71">
                  <c:v>1.09196571</c:v>
                </c:pt>
                <c:pt idx="72">
                  <c:v>1.07189122</c:v>
                </c:pt>
                <c:pt idx="73">
                  <c:v>0.62988979</c:v>
                </c:pt>
                <c:pt idx="74">
                  <c:v>0.77134484</c:v>
                </c:pt>
                <c:pt idx="75">
                  <c:v>0.9872134</c:v>
                </c:pt>
                <c:pt idx="76">
                  <c:v>1.3746984</c:v>
                </c:pt>
                <c:pt idx="77">
                  <c:v>0.74597658</c:v>
                </c:pt>
                <c:pt idx="78">
                  <c:v>0.95416632</c:v>
                </c:pt>
                <c:pt idx="79">
                  <c:v>0.99532211</c:v>
                </c:pt>
                <c:pt idx="80">
                  <c:v>1.01155972</c:v>
                </c:pt>
                <c:pt idx="81">
                  <c:v>0.79965305</c:v>
                </c:pt>
                <c:pt idx="82">
                  <c:v>0.88160348</c:v>
                </c:pt>
                <c:pt idx="83">
                  <c:v>0.7324627</c:v>
                </c:pt>
                <c:pt idx="84">
                  <c:v>1.58451116</c:v>
                </c:pt>
                <c:pt idx="85">
                  <c:v>0.83766249</c:v>
                </c:pt>
                <c:pt idx="86">
                  <c:v>1.06341749</c:v>
                </c:pt>
                <c:pt idx="87">
                  <c:v>0.96295327</c:v>
                </c:pt>
                <c:pt idx="88">
                  <c:v>0.99971578</c:v>
                </c:pt>
                <c:pt idx="89">
                  <c:v>0.89184994</c:v>
                </c:pt>
                <c:pt idx="90">
                  <c:v>0.63543057</c:v>
                </c:pt>
                <c:pt idx="91">
                  <c:v>0.75812054</c:v>
                </c:pt>
                <c:pt idx="92">
                  <c:v>0.99033254</c:v>
                </c:pt>
                <c:pt idx="93">
                  <c:v>0.39103276</c:v>
                </c:pt>
                <c:pt idx="94">
                  <c:v>0.9265089</c:v>
                </c:pt>
                <c:pt idx="95">
                  <c:v>1.10308993</c:v>
                </c:pt>
                <c:pt idx="96">
                  <c:v>0.86581486</c:v>
                </c:pt>
                <c:pt idx="97">
                  <c:v>0.58277196</c:v>
                </c:pt>
                <c:pt idx="98">
                  <c:v>1.18188363</c:v>
                </c:pt>
                <c:pt idx="99">
                  <c:v>0.68515283</c:v>
                </c:pt>
                <c:pt idx="100">
                  <c:v>0.92088875</c:v>
                </c:pt>
                <c:pt idx="101">
                  <c:v>0.88097847</c:v>
                </c:pt>
                <c:pt idx="102">
                  <c:v>0.97157863</c:v>
                </c:pt>
                <c:pt idx="103">
                  <c:v>1.05985251</c:v>
                </c:pt>
                <c:pt idx="104">
                  <c:v>0.89477676</c:v>
                </c:pt>
                <c:pt idx="105">
                  <c:v>0.95863581</c:v>
                </c:pt>
                <c:pt idx="106">
                  <c:v>0.85558212</c:v>
                </c:pt>
                <c:pt idx="107">
                  <c:v>0.69648862</c:v>
                </c:pt>
                <c:pt idx="108">
                  <c:v>0.77498502</c:v>
                </c:pt>
                <c:pt idx="109">
                  <c:v>0.62186089</c:v>
                </c:pt>
                <c:pt idx="110">
                  <c:v>0.78371522</c:v>
                </c:pt>
                <c:pt idx="111">
                  <c:v>0.99459413</c:v>
                </c:pt>
                <c:pt idx="112">
                  <c:v>0.97770801</c:v>
                </c:pt>
                <c:pt idx="113">
                  <c:v>0.64239883</c:v>
                </c:pt>
                <c:pt idx="114">
                  <c:v>1.24274555</c:v>
                </c:pt>
                <c:pt idx="115">
                  <c:v>0.55019441</c:v>
                </c:pt>
                <c:pt idx="116">
                  <c:v>0.78387871</c:v>
                </c:pt>
                <c:pt idx="117">
                  <c:v>0.75789788</c:v>
                </c:pt>
                <c:pt idx="118">
                  <c:v>0.82858557</c:v>
                </c:pt>
                <c:pt idx="119">
                  <c:v>1.17151475</c:v>
                </c:pt>
                <c:pt idx="120">
                  <c:v>0.84886578</c:v>
                </c:pt>
                <c:pt idx="121">
                  <c:v>0.7730377</c:v>
                </c:pt>
                <c:pt idx="122">
                  <c:v>1.25362211</c:v>
                </c:pt>
                <c:pt idx="123">
                  <c:v>0.46225896</c:v>
                </c:pt>
                <c:pt idx="124">
                  <c:v>0.75404161</c:v>
                </c:pt>
                <c:pt idx="125">
                  <c:v>0.45240122</c:v>
                </c:pt>
                <c:pt idx="126">
                  <c:v>1.15972716</c:v>
                </c:pt>
                <c:pt idx="127">
                  <c:v>1.35600328</c:v>
                </c:pt>
              </c:numCache>
            </c:numRef>
          </c:yVal>
        </c:ser>
        <c:axId val="48650112"/>
        <c:axId val="48672768"/>
      </c:scatterChart>
      <c:valAx>
        <c:axId val="48672768"/>
        <c:scaling>
          <c:orientation val="minMax"/>
          <c:max val="2.5"/>
          <c:min val="0"/>
        </c:scaling>
        <c:delete val="0"/>
        <c:axPos val="l"/>
        <c:majorGridlines>
          <c:spPr>
            <a:ln xmlns:a="http://schemas.openxmlformats.org/drawingml/2006/main" w="5715">
              <a:solidFill>
                <a:srgbClr val="333333"/>
              </a:solidFill>
            </a:ln>
          </c:spPr>
        </c:majorGridlines>
        <c:title>
          <c:tx>
            <c:rich>
              <a:bodyPr xmlns:a="http://schemas.openxmlformats.org/drawingml/2006/main"/>
              <a:lstStyle xmlns:a="http://schemas.openxmlformats.org/drawingml/2006/main"/>
              <a:p xmlns:a="http://schemas.openxmlformats.org/drawingml/2006/main">
                <a:r>
                  <a:rPr sz="1125">
                    <a:solidFill>
                      <a:srgbClr val="FFFFFF"/>
                    </a:solidFill>
                    <a:latin typeface="Helvetica Neue"/>
                    <a:ea typeface="Helvetica Neue"/>
                    <a:cs typeface="Helvetica Neue"/>
                  </a:rPr>
                  <a:t>Batch cross-entropy</a:t>
                </a:r>
              </a:p>
            </c:rich>
          </c:tx>
          <c:overlay val="0"/>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50112"/>
      </c:valAx>
      <c:valAx>
        <c:axId val="48650112"/>
        <c:scaling>
          <c:orientation val="minMax"/>
          <c:max val="128"/>
          <c:min val="1"/>
        </c:scaling>
        <c:delete val="0"/>
        <c:axPos val="b"/>
        <c:title>
          <c:tx>
            <c:rich>
              <a:bodyPr xmlns:a="http://schemas.openxmlformats.org/drawingml/2006/main"/>
              <a:lstStyle xmlns:a="http://schemas.openxmlformats.org/drawingml/2006/main"/>
              <a:p xmlns:a="http://schemas.openxmlformats.org/drawingml/2006/main">
                <a:r>
                  <a:rPr sz="1275">
                    <a:solidFill>
                      <a:srgbClr val="FFFFFF"/>
                    </a:solidFill>
                    <a:latin typeface="Helvetica Neue"/>
                    <a:ea typeface="Helvetica Neue"/>
                    <a:cs typeface="Helvetica Neue"/>
                  </a:rPr>
                  <a:t>Update step</a:t>
                </a:r>
              </a:p>
            </c:rich>
          </c:tx>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majorUnit val="32"/>
      </c:valAx>
      <c:spPr>
        <a:solidFill xmlns:a="http://schemas.openxmlformats.org/drawingml/2006/main">
          <a:srgbClr val="00000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FFFFF"/>
              </a:solidFill>
              <a:latin typeface="Helvetica Neue"/>
              <a:ea typeface="Helvetica Neue"/>
              <a:cs typeface="Helvetica Neue"/>
            </a:defRPr>
          </a:pPr>
        </a:p>
      </c:txPr>
    </c:legend>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FFFFFF"/>
                </a:solidFill>
                <a:latin typeface="Helvetica Neue"/>
                <a:ea typeface="Helvetica Neue"/>
                <a:cs typeface="Helvetica Neue"/>
              </a:rPr>
              <a:t>Seed 42</a:t>
            </a:r>
          </a:p>
        </c:rich>
      </c:tx>
      <c:overlay val="0"/>
      <c:txPr>
        <a:bodyPr xmlns:a="http://schemas.openxmlformats.org/drawingml/2006/main" anchorCtr="1"/>
        <a:lstStyle xmlns:a="http://schemas.openxmlformats.org/drawingml/2006/main"/>
        <a:p xmlns:a="http://schemas.openxmlformats.org/drawingml/2006/main">
          <a:pPr>
            <a:defRPr sz="1725" b="1">
              <a:solidFill>
                <a:srgbClr val="FFFFFF"/>
              </a:solidFill>
              <a:latin typeface="Helvetica Neue"/>
              <a:ea typeface="Helvetica Neue"/>
              <a:cs typeface="Helvetica Neue"/>
            </a:defRPr>
          </a:pPr>
        </a:p>
      </c:txPr>
    </c:title>
    <c:plotArea>
      <c:scatterChart>
        <c:scatterStyle val="line"/>
        <c:ser>
          <c:idx val="0"/>
          <c:order val="0"/>
          <c:tx>
            <c:v>AdamW</c:v>
          </c:tx>
          <c:spPr>
            <a:ln xmlns:a="http://schemas.openxmlformats.org/drawingml/2006/main" w="12383">
              <a:solidFill>
                <a:srgbClr val="6DCBF4"/>
              </a:solidFill>
            </a:ln>
          </c:spPr>
          <c:marker>
            <c:symbol val="none"/>
          </c:marker>
          <c:xVal>
            <c:numRef>
              <c:f>'Chart Data'!$A$2:$A$129</c:f>
              <c:numCache>
                <c:formatCode>General</c:formatCode>
                <c:ptCount val="1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numCache>
            </c:numRef>
          </c:xVal>
          <c:yVal>
            <c:numRef>
              <c:f>'Chart Data'!$B$2:$B$129</c:f>
              <c:numCache>
                <c:formatCode>0.0</c:formatCode>
                <c:ptCount val="128"/>
                <c:pt idx="0">
                  <c:v>0.89917359</c:v>
                </c:pt>
                <c:pt idx="1">
                  <c:v>0.66750766</c:v>
                </c:pt>
                <c:pt idx="2">
                  <c:v>0.82789028</c:v>
                </c:pt>
                <c:pt idx="3">
                  <c:v>0.53141283</c:v>
                </c:pt>
                <c:pt idx="4">
                  <c:v>0.38693255</c:v>
                </c:pt>
                <c:pt idx="5">
                  <c:v>0.53102457</c:v>
                </c:pt>
                <c:pt idx="6">
                  <c:v>0.9588584</c:v>
                </c:pt>
                <c:pt idx="7">
                  <c:v>0.80365813</c:v>
                </c:pt>
                <c:pt idx="8">
                  <c:v>0.74468273</c:v>
                </c:pt>
                <c:pt idx="9">
                  <c:v>0.61059546</c:v>
                </c:pt>
                <c:pt idx="10">
                  <c:v>0.99491799</c:v>
                </c:pt>
                <c:pt idx="11">
                  <c:v>0.43902793</c:v>
                </c:pt>
                <c:pt idx="12">
                  <c:v>0.70424831</c:v>
                </c:pt>
                <c:pt idx="13">
                  <c:v>0.5018886</c:v>
                </c:pt>
                <c:pt idx="14">
                  <c:v>0.39545119</c:v>
                </c:pt>
                <c:pt idx="15">
                  <c:v>0.73245263</c:v>
                </c:pt>
                <c:pt idx="16">
                  <c:v>0.5811048</c:v>
                </c:pt>
                <c:pt idx="17">
                  <c:v>0.65715837</c:v>
                </c:pt>
                <c:pt idx="18">
                  <c:v>0.34871176</c:v>
                </c:pt>
                <c:pt idx="19">
                  <c:v>0.44641876</c:v>
                </c:pt>
                <c:pt idx="20">
                  <c:v>0.56823615</c:v>
                </c:pt>
                <c:pt idx="21">
                  <c:v>0.86665368</c:v>
                </c:pt>
                <c:pt idx="22">
                  <c:v>0.31297849</c:v>
                </c:pt>
                <c:pt idx="23">
                  <c:v>0.4531285</c:v>
                </c:pt>
                <c:pt idx="24">
                  <c:v>0.6256139</c:v>
                </c:pt>
                <c:pt idx="25">
                  <c:v>0.25270771</c:v>
                </c:pt>
                <c:pt idx="26">
                  <c:v>0.26101618</c:v>
                </c:pt>
                <c:pt idx="27">
                  <c:v>0.40721513</c:v>
                </c:pt>
                <c:pt idx="28">
                  <c:v>0.64489263</c:v>
                </c:pt>
                <c:pt idx="29">
                  <c:v>0.55594712</c:v>
                </c:pt>
                <c:pt idx="30">
                  <c:v>0.59529173</c:v>
                </c:pt>
                <c:pt idx="31">
                  <c:v>0.15740831</c:v>
                </c:pt>
                <c:pt idx="32">
                  <c:v>0.89044648</c:v>
                </c:pt>
                <c:pt idx="33">
                  <c:v>0.31487104</c:v>
                </c:pt>
                <c:pt idx="34">
                  <c:v>0.15361199</c:v>
                </c:pt>
                <c:pt idx="35">
                  <c:v>0.67824027</c:v>
                </c:pt>
                <c:pt idx="36">
                  <c:v>0.97488676</c:v>
                </c:pt>
                <c:pt idx="37">
                  <c:v>1.34925783</c:v>
                </c:pt>
                <c:pt idx="38">
                  <c:v>0.99356499</c:v>
                </c:pt>
                <c:pt idx="39">
                  <c:v>0.92688929</c:v>
                </c:pt>
                <c:pt idx="40">
                  <c:v>1.54708013</c:v>
                </c:pt>
                <c:pt idx="41">
                  <c:v>0.97009231</c:v>
                </c:pt>
                <c:pt idx="42">
                  <c:v>0.36532311</c:v>
                </c:pt>
                <c:pt idx="43">
                  <c:v>0.21421508</c:v>
                </c:pt>
                <c:pt idx="44">
                  <c:v>0.95451438</c:v>
                </c:pt>
                <c:pt idx="45">
                  <c:v>0.48220849</c:v>
                </c:pt>
                <c:pt idx="46">
                  <c:v>0.41945985</c:v>
                </c:pt>
                <c:pt idx="47">
                  <c:v>0.40667163</c:v>
                </c:pt>
                <c:pt idx="48">
                  <c:v>0.4292706</c:v>
                </c:pt>
                <c:pt idx="49">
                  <c:v>0.96238521</c:v>
                </c:pt>
                <c:pt idx="50">
                  <c:v>0.59802935</c:v>
                </c:pt>
                <c:pt idx="51">
                  <c:v>0.67578945</c:v>
                </c:pt>
                <c:pt idx="52">
                  <c:v>0.43084255</c:v>
                </c:pt>
                <c:pt idx="53">
                  <c:v>0.51240374</c:v>
                </c:pt>
                <c:pt idx="54">
                  <c:v>0.3128715</c:v>
                </c:pt>
                <c:pt idx="55">
                  <c:v>0.2252861</c:v>
                </c:pt>
                <c:pt idx="56">
                  <c:v>0.94872814</c:v>
                </c:pt>
                <c:pt idx="57">
                  <c:v>0.67757937</c:v>
                </c:pt>
                <c:pt idx="58">
                  <c:v>0.44638947</c:v>
                </c:pt>
                <c:pt idx="59">
                  <c:v>0.22335058</c:v>
                </c:pt>
                <c:pt idx="60">
                  <c:v>0.27196065</c:v>
                </c:pt>
                <c:pt idx="61">
                  <c:v>1.21227175</c:v>
                </c:pt>
                <c:pt idx="62">
                  <c:v>0.34682541</c:v>
                </c:pt>
                <c:pt idx="63">
                  <c:v>1.08275098</c:v>
                </c:pt>
                <c:pt idx="64">
                  <c:v>0.47498569</c:v>
                </c:pt>
                <c:pt idx="65">
                  <c:v>0.44870827</c:v>
                </c:pt>
                <c:pt idx="66">
                  <c:v>0.6552749</c:v>
                </c:pt>
                <c:pt idx="67">
                  <c:v>0.34994009</c:v>
                </c:pt>
                <c:pt idx="68">
                  <c:v>0.45165429</c:v>
                </c:pt>
                <c:pt idx="69">
                  <c:v>0.44525227</c:v>
                </c:pt>
                <c:pt idx="70">
                  <c:v>0.82428275</c:v>
                </c:pt>
                <c:pt idx="71">
                  <c:v>0.5861035</c:v>
                </c:pt>
                <c:pt idx="72">
                  <c:v>0.55591538</c:v>
                </c:pt>
                <c:pt idx="73">
                  <c:v>0.49921077</c:v>
                </c:pt>
                <c:pt idx="74">
                  <c:v>0.43507211</c:v>
                </c:pt>
                <c:pt idx="75">
                  <c:v>0.40153594</c:v>
                </c:pt>
                <c:pt idx="76">
                  <c:v>0.96347392</c:v>
                </c:pt>
                <c:pt idx="77">
                  <c:v>0.17584094</c:v>
                </c:pt>
                <c:pt idx="78">
                  <c:v>0.42824179</c:v>
                </c:pt>
                <c:pt idx="79">
                  <c:v>0.62843037</c:v>
                </c:pt>
                <c:pt idx="80">
                  <c:v>0.37625933</c:v>
                </c:pt>
                <c:pt idx="81">
                  <c:v>0.57276623</c:v>
                </c:pt>
                <c:pt idx="82">
                  <c:v>0.96488675</c:v>
                </c:pt>
                <c:pt idx="83">
                  <c:v>0.45726494</c:v>
                </c:pt>
                <c:pt idx="84">
                  <c:v>0.12645863</c:v>
                </c:pt>
                <c:pt idx="85">
                  <c:v>0.41146226</c:v>
                </c:pt>
                <c:pt idx="86">
                  <c:v>0.47585285</c:v>
                </c:pt>
                <c:pt idx="87">
                  <c:v>0.19908262</c:v>
                </c:pt>
                <c:pt idx="88">
                  <c:v>0.25921554</c:v>
                </c:pt>
                <c:pt idx="89">
                  <c:v>0.1286082</c:v>
                </c:pt>
                <c:pt idx="90">
                  <c:v>0.3703185</c:v>
                </c:pt>
                <c:pt idx="91">
                  <c:v>0.44886987</c:v>
                </c:pt>
                <c:pt idx="92">
                  <c:v>0.36319815</c:v>
                </c:pt>
                <c:pt idx="93">
                  <c:v>0.27207117</c:v>
                </c:pt>
                <c:pt idx="94">
                  <c:v>0.47133586</c:v>
                </c:pt>
                <c:pt idx="95">
                  <c:v>0.26572637</c:v>
                </c:pt>
                <c:pt idx="96">
                  <c:v>0.21420427</c:v>
                </c:pt>
                <c:pt idx="97">
                  <c:v>0.41364386</c:v>
                </c:pt>
                <c:pt idx="98">
                  <c:v>0.23257616</c:v>
                </c:pt>
                <c:pt idx="99">
                  <c:v>0.18349946</c:v>
                </c:pt>
                <c:pt idx="100">
                  <c:v>0.47154021</c:v>
                </c:pt>
                <c:pt idx="101">
                  <c:v>0.12298379</c:v>
                </c:pt>
                <c:pt idx="102">
                  <c:v>0.30631416</c:v>
                </c:pt>
                <c:pt idx="103">
                  <c:v>0.8098489</c:v>
                </c:pt>
                <c:pt idx="104">
                  <c:v>1.14925662</c:v>
                </c:pt>
                <c:pt idx="105">
                  <c:v>0.17436652</c:v>
                </c:pt>
                <c:pt idx="106">
                  <c:v>0.13671875</c:v>
                </c:pt>
                <c:pt idx="107">
                  <c:v>0.51335244</c:v>
                </c:pt>
                <c:pt idx="108">
                  <c:v>0.02987974</c:v>
                </c:pt>
                <c:pt idx="109">
                  <c:v>0.42811865</c:v>
                </c:pt>
                <c:pt idx="110">
                  <c:v>0.32924878</c:v>
                </c:pt>
                <c:pt idx="111">
                  <c:v>0.89805585</c:v>
                </c:pt>
                <c:pt idx="112">
                  <c:v>0.23889427</c:v>
                </c:pt>
                <c:pt idx="113">
                  <c:v>0.52911544</c:v>
                </c:pt>
                <c:pt idx="114">
                  <c:v>0.20131128</c:v>
                </c:pt>
                <c:pt idx="115">
                  <c:v>0.44174346</c:v>
                </c:pt>
                <c:pt idx="116">
                  <c:v>0.53087717</c:v>
                </c:pt>
                <c:pt idx="117">
                  <c:v>0.49674605</c:v>
                </c:pt>
                <c:pt idx="118">
                  <c:v>0.26411147</c:v>
                </c:pt>
                <c:pt idx="119">
                  <c:v>0.16235005</c:v>
                </c:pt>
                <c:pt idx="120">
                  <c:v>1.23947966</c:v>
                </c:pt>
                <c:pt idx="121">
                  <c:v>0.25931056</c:v>
                </c:pt>
                <c:pt idx="122">
                  <c:v>0.37229302</c:v>
                </c:pt>
                <c:pt idx="123">
                  <c:v>1.04152879</c:v>
                </c:pt>
                <c:pt idx="124">
                  <c:v>0.29845953</c:v>
                </c:pt>
                <c:pt idx="125">
                  <c:v>0.24504902</c:v>
                </c:pt>
                <c:pt idx="126">
                  <c:v>0.14241941</c:v>
                </c:pt>
                <c:pt idx="127">
                  <c:v>0.27885821</c:v>
                </c:pt>
              </c:numCache>
            </c:numRef>
          </c:yVal>
        </c:ser>
        <c:ser>
          <c:idx val="1"/>
          <c:order val="1"/>
          <c:tx>
            <c:v>IVON</c:v>
          </c:tx>
          <c:spPr>
            <a:ln xmlns:a="http://schemas.openxmlformats.org/drawingml/2006/main" w="12383">
              <a:solidFill>
                <a:srgbClr val="F3AF68"/>
              </a:solidFill>
            </a:ln>
          </c:spPr>
          <c:marker>
            <c:symbol val="none"/>
          </c:marker>
          <c:xVal>
            <c:numRef>
              <c:f>'Chart Data'!$C$2:$C$129</c:f>
              <c:numCache>
                <c:formatCode>General</c:formatCode>
                <c:ptCount val="1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numCache>
            </c:numRef>
          </c:xVal>
          <c:yVal>
            <c:numRef>
              <c:f>'Chart Data'!$D$2:$D$129</c:f>
              <c:numCache>
                <c:formatCode>0.0</c:formatCode>
                <c:ptCount val="128"/>
                <c:pt idx="0">
                  <c:v>1.30283546</c:v>
                </c:pt>
                <c:pt idx="1">
                  <c:v>1.31734812</c:v>
                </c:pt>
                <c:pt idx="2">
                  <c:v>1.18820184</c:v>
                </c:pt>
                <c:pt idx="3">
                  <c:v>0.9105089</c:v>
                </c:pt>
                <c:pt idx="4">
                  <c:v>1.20935416</c:v>
                </c:pt>
                <c:pt idx="5">
                  <c:v>1.21581256</c:v>
                </c:pt>
                <c:pt idx="6">
                  <c:v>1.25655574</c:v>
                </c:pt>
                <c:pt idx="7">
                  <c:v>1.04556885</c:v>
                </c:pt>
                <c:pt idx="8">
                  <c:v>1.19531256</c:v>
                </c:pt>
                <c:pt idx="9">
                  <c:v>1.18387258</c:v>
                </c:pt>
                <c:pt idx="10">
                  <c:v>1.12272146</c:v>
                </c:pt>
                <c:pt idx="11">
                  <c:v>0.80594718</c:v>
                </c:pt>
                <c:pt idx="12">
                  <c:v>0.7563175</c:v>
                </c:pt>
                <c:pt idx="13">
                  <c:v>1.24657655</c:v>
                </c:pt>
                <c:pt idx="14">
                  <c:v>1.07996935</c:v>
                </c:pt>
                <c:pt idx="15">
                  <c:v>0.91336304</c:v>
                </c:pt>
                <c:pt idx="16">
                  <c:v>1.47330093</c:v>
                </c:pt>
                <c:pt idx="17">
                  <c:v>0.91705</c:v>
                </c:pt>
                <c:pt idx="18">
                  <c:v>1.16431481</c:v>
                </c:pt>
                <c:pt idx="19">
                  <c:v>0.95353106</c:v>
                </c:pt>
                <c:pt idx="20">
                  <c:v>1.0142839</c:v>
                </c:pt>
                <c:pt idx="21">
                  <c:v>1.02361408</c:v>
                </c:pt>
                <c:pt idx="22">
                  <c:v>0.61290646</c:v>
                </c:pt>
                <c:pt idx="23">
                  <c:v>1.24599546</c:v>
                </c:pt>
                <c:pt idx="24">
                  <c:v>1.25578147</c:v>
                </c:pt>
                <c:pt idx="25">
                  <c:v>1.14379162</c:v>
                </c:pt>
                <c:pt idx="26">
                  <c:v>0.83840531</c:v>
                </c:pt>
                <c:pt idx="27">
                  <c:v>0.92225546</c:v>
                </c:pt>
                <c:pt idx="28">
                  <c:v>1.01909009</c:v>
                </c:pt>
                <c:pt idx="29">
                  <c:v>1.16329587</c:v>
                </c:pt>
                <c:pt idx="30">
                  <c:v>1.18237829</c:v>
                </c:pt>
                <c:pt idx="31">
                  <c:v>0.84214392</c:v>
                </c:pt>
                <c:pt idx="32">
                  <c:v>0.96738583</c:v>
                </c:pt>
                <c:pt idx="33">
                  <c:v>0.96254408</c:v>
                </c:pt>
                <c:pt idx="34">
                  <c:v>0.78717798</c:v>
                </c:pt>
                <c:pt idx="35">
                  <c:v>1.23681211</c:v>
                </c:pt>
                <c:pt idx="36">
                  <c:v>1.16973633</c:v>
                </c:pt>
                <c:pt idx="37">
                  <c:v>1.42879057</c:v>
                </c:pt>
                <c:pt idx="38">
                  <c:v>0.95784678</c:v>
                </c:pt>
                <c:pt idx="39">
                  <c:v>0.78534807</c:v>
                </c:pt>
                <c:pt idx="40">
                  <c:v>0.80365449</c:v>
                </c:pt>
                <c:pt idx="41">
                  <c:v>1.42606813</c:v>
                </c:pt>
                <c:pt idx="42">
                  <c:v>1.03586787</c:v>
                </c:pt>
                <c:pt idx="43">
                  <c:v>0.4282223</c:v>
                </c:pt>
                <c:pt idx="44">
                  <c:v>1.29375976</c:v>
                </c:pt>
                <c:pt idx="45">
                  <c:v>0.67999789</c:v>
                </c:pt>
                <c:pt idx="46">
                  <c:v>0.59613442</c:v>
                </c:pt>
                <c:pt idx="47">
                  <c:v>0.98889419</c:v>
                </c:pt>
                <c:pt idx="48">
                  <c:v>0.90577173</c:v>
                </c:pt>
                <c:pt idx="49">
                  <c:v>1.46010584</c:v>
                </c:pt>
                <c:pt idx="50">
                  <c:v>0.91180587</c:v>
                </c:pt>
                <c:pt idx="51">
                  <c:v>1.17133838</c:v>
                </c:pt>
                <c:pt idx="52">
                  <c:v>0.65540701</c:v>
                </c:pt>
                <c:pt idx="53">
                  <c:v>1.18895814</c:v>
                </c:pt>
                <c:pt idx="54">
                  <c:v>0.53522119</c:v>
                </c:pt>
                <c:pt idx="55">
                  <c:v>0.80835596</c:v>
                </c:pt>
                <c:pt idx="56">
                  <c:v>1.02493376</c:v>
                </c:pt>
                <c:pt idx="57">
                  <c:v>1.26426107</c:v>
                </c:pt>
                <c:pt idx="58">
                  <c:v>0.73267275</c:v>
                </c:pt>
                <c:pt idx="59">
                  <c:v>0.46876356</c:v>
                </c:pt>
                <c:pt idx="60">
                  <c:v>0.6458973</c:v>
                </c:pt>
                <c:pt idx="61">
                  <c:v>0.96526498</c:v>
                </c:pt>
                <c:pt idx="62">
                  <c:v>0.86870897</c:v>
                </c:pt>
                <c:pt idx="63">
                  <c:v>1.42636359</c:v>
                </c:pt>
                <c:pt idx="64">
                  <c:v>1.28916401</c:v>
                </c:pt>
                <c:pt idx="65">
                  <c:v>0.95784274</c:v>
                </c:pt>
                <c:pt idx="66">
                  <c:v>1.33247948</c:v>
                </c:pt>
                <c:pt idx="67">
                  <c:v>0.93743789</c:v>
                </c:pt>
                <c:pt idx="68">
                  <c:v>1.59469634</c:v>
                </c:pt>
                <c:pt idx="69">
                  <c:v>0.70816234</c:v>
                </c:pt>
                <c:pt idx="70">
                  <c:v>1.00503489</c:v>
                </c:pt>
                <c:pt idx="71">
                  <c:v>1.10088122</c:v>
                </c:pt>
                <c:pt idx="72">
                  <c:v>0.93147564</c:v>
                </c:pt>
                <c:pt idx="73">
                  <c:v>0.97910202</c:v>
                </c:pt>
                <c:pt idx="74">
                  <c:v>0.63994262</c:v>
                </c:pt>
                <c:pt idx="75">
                  <c:v>1.28374481</c:v>
                </c:pt>
                <c:pt idx="76">
                  <c:v>1.15638784</c:v>
                </c:pt>
                <c:pt idx="77">
                  <c:v>0.7451728</c:v>
                </c:pt>
                <c:pt idx="78">
                  <c:v>0.78094354</c:v>
                </c:pt>
                <c:pt idx="79">
                  <c:v>1.29373986</c:v>
                </c:pt>
                <c:pt idx="80">
                  <c:v>0.88464755</c:v>
                </c:pt>
                <c:pt idx="81">
                  <c:v>1.16146269</c:v>
                </c:pt>
                <c:pt idx="82">
                  <c:v>1.02597624</c:v>
                </c:pt>
                <c:pt idx="83">
                  <c:v>1.1118995</c:v>
                </c:pt>
                <c:pt idx="84">
                  <c:v>0.50954306</c:v>
                </c:pt>
                <c:pt idx="85">
                  <c:v>0.83129314</c:v>
                </c:pt>
                <c:pt idx="86">
                  <c:v>1.20564657</c:v>
                </c:pt>
                <c:pt idx="87">
                  <c:v>0.29275222</c:v>
                </c:pt>
                <c:pt idx="88">
                  <c:v>0.95177826</c:v>
                </c:pt>
                <c:pt idx="89">
                  <c:v>0.81639519</c:v>
                </c:pt>
                <c:pt idx="90">
                  <c:v>1.04407272</c:v>
                </c:pt>
                <c:pt idx="91">
                  <c:v>0.99024895</c:v>
                </c:pt>
                <c:pt idx="92">
                  <c:v>1.14312178</c:v>
                </c:pt>
                <c:pt idx="93">
                  <c:v>0.9897272</c:v>
                </c:pt>
                <c:pt idx="94">
                  <c:v>0.80128831</c:v>
                </c:pt>
                <c:pt idx="95">
                  <c:v>1.43682802</c:v>
                </c:pt>
                <c:pt idx="96">
                  <c:v>1.01602519</c:v>
                </c:pt>
                <c:pt idx="97">
                  <c:v>1.06426454</c:v>
                </c:pt>
                <c:pt idx="98">
                  <c:v>0.64616331</c:v>
                </c:pt>
                <c:pt idx="99">
                  <c:v>0.79238963</c:v>
                </c:pt>
                <c:pt idx="100">
                  <c:v>1.19811034</c:v>
                </c:pt>
                <c:pt idx="101">
                  <c:v>0.93792352</c:v>
                </c:pt>
                <c:pt idx="102">
                  <c:v>1.27243227</c:v>
                </c:pt>
                <c:pt idx="103">
                  <c:v>1.22932971</c:v>
                </c:pt>
                <c:pt idx="104">
                  <c:v>1.11982891</c:v>
                </c:pt>
                <c:pt idx="105">
                  <c:v>0.41913611</c:v>
                </c:pt>
                <c:pt idx="106">
                  <c:v>1.0751712</c:v>
                </c:pt>
                <c:pt idx="107">
                  <c:v>0.69827883</c:v>
                </c:pt>
                <c:pt idx="108">
                  <c:v>0.75616509</c:v>
                </c:pt>
                <c:pt idx="109">
                  <c:v>0.58317083</c:v>
                </c:pt>
                <c:pt idx="110">
                  <c:v>1.49854618</c:v>
                </c:pt>
                <c:pt idx="111">
                  <c:v>1.35227829</c:v>
                </c:pt>
                <c:pt idx="112">
                  <c:v>0.59305607</c:v>
                </c:pt>
                <c:pt idx="113">
                  <c:v>1.09009802</c:v>
                </c:pt>
                <c:pt idx="114">
                  <c:v>0.50329395</c:v>
                </c:pt>
                <c:pt idx="115">
                  <c:v>0.64446136</c:v>
                </c:pt>
                <c:pt idx="116">
                  <c:v>0.81756541</c:v>
                </c:pt>
                <c:pt idx="117">
                  <c:v>1.2729136</c:v>
                </c:pt>
                <c:pt idx="118">
                  <c:v>0.69078219</c:v>
                </c:pt>
                <c:pt idx="119">
                  <c:v>0.59745762</c:v>
                </c:pt>
                <c:pt idx="120">
                  <c:v>1.13903147</c:v>
                </c:pt>
                <c:pt idx="121">
                  <c:v>0.74597615</c:v>
                </c:pt>
                <c:pt idx="122">
                  <c:v>0.86699048</c:v>
                </c:pt>
                <c:pt idx="123">
                  <c:v>1.98117018</c:v>
                </c:pt>
                <c:pt idx="124">
                  <c:v>0.70647055</c:v>
                </c:pt>
                <c:pt idx="125">
                  <c:v>1.15314668</c:v>
                </c:pt>
                <c:pt idx="126">
                  <c:v>0.84222269</c:v>
                </c:pt>
                <c:pt idx="127">
                  <c:v>0.57411435</c:v>
                </c:pt>
              </c:numCache>
            </c:numRef>
          </c:yVal>
        </c:ser>
        <c:axId val="48650112"/>
        <c:axId val="48672768"/>
      </c:scatterChart>
      <c:valAx>
        <c:axId val="48672768"/>
        <c:scaling>
          <c:orientation val="minMax"/>
          <c:max val="2.5"/>
          <c:min val="0"/>
        </c:scaling>
        <c:delete val="0"/>
        <c:axPos val="l"/>
        <c:majorGridlines>
          <c:spPr>
            <a:ln xmlns:a="http://schemas.openxmlformats.org/drawingml/2006/main" w="5715">
              <a:solidFill>
                <a:srgbClr val="333333"/>
              </a:solidFill>
            </a:ln>
          </c:spPr>
        </c:majorGridlines>
        <c:title>
          <c:tx>
            <c:rich>
              <a:bodyPr xmlns:a="http://schemas.openxmlformats.org/drawingml/2006/main"/>
              <a:lstStyle xmlns:a="http://schemas.openxmlformats.org/drawingml/2006/main"/>
              <a:p xmlns:a="http://schemas.openxmlformats.org/drawingml/2006/main">
                <a:r>
                  <a:rPr sz="1125">
                    <a:solidFill>
                      <a:srgbClr val="FFFFFF"/>
                    </a:solidFill>
                    <a:latin typeface="Helvetica Neue"/>
                    <a:ea typeface="Helvetica Neue"/>
                    <a:cs typeface="Helvetica Neue"/>
                  </a:rPr>
                  <a:t>Batch cross-entropy</a:t>
                </a:r>
              </a:p>
            </c:rich>
          </c:tx>
          <c:overlay val="0"/>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50112"/>
      </c:valAx>
      <c:valAx>
        <c:axId val="48650112"/>
        <c:scaling>
          <c:orientation val="minMax"/>
          <c:max val="128"/>
          <c:min val="1"/>
        </c:scaling>
        <c:delete val="0"/>
        <c:axPos val="b"/>
        <c:title>
          <c:tx>
            <c:rich>
              <a:bodyPr xmlns:a="http://schemas.openxmlformats.org/drawingml/2006/main"/>
              <a:lstStyle xmlns:a="http://schemas.openxmlformats.org/drawingml/2006/main"/>
              <a:p xmlns:a="http://schemas.openxmlformats.org/drawingml/2006/main">
                <a:r>
                  <a:rPr sz="1275">
                    <a:solidFill>
                      <a:srgbClr val="FFFFFF"/>
                    </a:solidFill>
                    <a:latin typeface="Helvetica Neue"/>
                    <a:ea typeface="Helvetica Neue"/>
                    <a:cs typeface="Helvetica Neue"/>
                  </a:rPr>
                  <a:t>Update step</a:t>
                </a:r>
              </a:p>
            </c:rich>
          </c:tx>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majorUnit val="32"/>
      </c:valAx>
      <c:spPr>
        <a:solidFill xmlns:a="http://schemas.openxmlformats.org/drawingml/2006/main">
          <a:srgbClr val="00000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FFFFF"/>
              </a:solidFill>
              <a:latin typeface="Helvetica Neue"/>
              <a:ea typeface="Helvetica Neue"/>
              <a:cs typeface="Helvetica Neue"/>
            </a:defRPr>
          </a:pPr>
        </a:p>
      </c:txPr>
    </c:legend>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FFFFFF"/>
                </a:solidFill>
                <a:latin typeface="Helvetica Neue"/>
                <a:ea typeface="Helvetica Neue"/>
                <a:cs typeface="Helvetica Neue"/>
              </a:rPr>
              <a:t>Seed 87</a:t>
            </a:r>
          </a:p>
        </c:rich>
      </c:tx>
      <c:overlay val="0"/>
      <c:txPr>
        <a:bodyPr xmlns:a="http://schemas.openxmlformats.org/drawingml/2006/main" anchorCtr="1"/>
        <a:lstStyle xmlns:a="http://schemas.openxmlformats.org/drawingml/2006/main"/>
        <a:p xmlns:a="http://schemas.openxmlformats.org/drawingml/2006/main">
          <a:pPr>
            <a:defRPr sz="1725" b="1">
              <a:solidFill>
                <a:srgbClr val="FFFFFF"/>
              </a:solidFill>
              <a:latin typeface="Helvetica Neue"/>
              <a:ea typeface="Helvetica Neue"/>
              <a:cs typeface="Helvetica Neue"/>
            </a:defRPr>
          </a:pPr>
        </a:p>
      </c:txPr>
    </c:title>
    <c:plotArea>
      <c:scatterChart>
        <c:scatterStyle val="line"/>
        <c:ser>
          <c:idx val="0"/>
          <c:order val="0"/>
          <c:tx>
            <c:v>AdamW</c:v>
          </c:tx>
          <c:spPr>
            <a:ln xmlns:a="http://schemas.openxmlformats.org/drawingml/2006/main" w="12383">
              <a:solidFill>
                <a:srgbClr val="6DCBF4"/>
              </a:solidFill>
            </a:ln>
          </c:spPr>
          <c:marker>
            <c:symbol val="none"/>
          </c:marker>
          <c:xVal>
            <c:numRef>
              <c:f>'Chart Data'!$A$2:$A$129</c:f>
              <c:numCache>
                <c:formatCode>General</c:formatCode>
                <c:ptCount val="1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numCache>
            </c:numRef>
          </c:xVal>
          <c:yVal>
            <c:numRef>
              <c:f>'Chart Data'!$B$2:$B$129</c:f>
              <c:numCache>
                <c:formatCode>0.0</c:formatCode>
                <c:ptCount val="128"/>
                <c:pt idx="0">
                  <c:v>0.38857707</c:v>
                </c:pt>
                <c:pt idx="1">
                  <c:v>0.43178451</c:v>
                </c:pt>
                <c:pt idx="2">
                  <c:v>0.29968053</c:v>
                </c:pt>
                <c:pt idx="3">
                  <c:v>1.10727307</c:v>
                </c:pt>
                <c:pt idx="4">
                  <c:v>0.63163251</c:v>
                </c:pt>
                <c:pt idx="5">
                  <c:v>0.6757783</c:v>
                </c:pt>
                <c:pt idx="6">
                  <c:v>0.78735811</c:v>
                </c:pt>
                <c:pt idx="7">
                  <c:v>0.47441736</c:v>
                </c:pt>
                <c:pt idx="8">
                  <c:v>0.76503788</c:v>
                </c:pt>
                <c:pt idx="9">
                  <c:v>0.77622893</c:v>
                </c:pt>
                <c:pt idx="10">
                  <c:v>0.75822848</c:v>
                </c:pt>
                <c:pt idx="11">
                  <c:v>0.73385142</c:v>
                </c:pt>
                <c:pt idx="12">
                  <c:v>0.66432229</c:v>
                </c:pt>
                <c:pt idx="13">
                  <c:v>0.65793778</c:v>
                </c:pt>
                <c:pt idx="14">
                  <c:v>1.05856067</c:v>
                </c:pt>
                <c:pt idx="15">
                  <c:v>0.57686125</c:v>
                </c:pt>
                <c:pt idx="16">
                  <c:v>0.57780969</c:v>
                </c:pt>
                <c:pt idx="17">
                  <c:v>0.46941613</c:v>
                </c:pt>
                <c:pt idx="18">
                  <c:v>0.32687774</c:v>
                </c:pt>
                <c:pt idx="19">
                  <c:v>0.62854636</c:v>
                </c:pt>
                <c:pt idx="20">
                  <c:v>0.57094164</c:v>
                </c:pt>
                <c:pt idx="21">
                  <c:v>0.53764104</c:v>
                </c:pt>
                <c:pt idx="22">
                  <c:v>0.52332956</c:v>
                </c:pt>
                <c:pt idx="23">
                  <c:v>0.8438255</c:v>
                </c:pt>
                <c:pt idx="24">
                  <c:v>0.14734819</c:v>
                </c:pt>
                <c:pt idx="25">
                  <c:v>1.08778012</c:v>
                </c:pt>
                <c:pt idx="26">
                  <c:v>0.51542147</c:v>
                </c:pt>
                <c:pt idx="27">
                  <c:v>0.70101479</c:v>
                </c:pt>
                <c:pt idx="28">
                  <c:v>0.63453379</c:v>
                </c:pt>
                <c:pt idx="29">
                  <c:v>0.83956575</c:v>
                </c:pt>
                <c:pt idx="30">
                  <c:v>0.31515262</c:v>
                </c:pt>
                <c:pt idx="31">
                  <c:v>0.71963263</c:v>
                </c:pt>
                <c:pt idx="32">
                  <c:v>0.75157207</c:v>
                </c:pt>
                <c:pt idx="33">
                  <c:v>0.82472545</c:v>
                </c:pt>
                <c:pt idx="34">
                  <c:v>0.79538751</c:v>
                </c:pt>
                <c:pt idx="35">
                  <c:v>0.22593924</c:v>
                </c:pt>
                <c:pt idx="36">
                  <c:v>0.05537469</c:v>
                </c:pt>
                <c:pt idx="37">
                  <c:v>0.92143157</c:v>
                </c:pt>
                <c:pt idx="38">
                  <c:v>0.73985448</c:v>
                </c:pt>
                <c:pt idx="39">
                  <c:v>0.52251983</c:v>
                </c:pt>
                <c:pt idx="40">
                  <c:v>0.68379825</c:v>
                </c:pt>
                <c:pt idx="41">
                  <c:v>1.36229485</c:v>
                </c:pt>
                <c:pt idx="42">
                  <c:v>1.32173342</c:v>
                </c:pt>
                <c:pt idx="43">
                  <c:v>0.78460816</c:v>
                </c:pt>
                <c:pt idx="44">
                  <c:v>0.63689759</c:v>
                </c:pt>
                <c:pt idx="45">
                  <c:v>0.39857866</c:v>
                </c:pt>
                <c:pt idx="46">
                  <c:v>0.36756911</c:v>
                </c:pt>
                <c:pt idx="47">
                  <c:v>0.60319339</c:v>
                </c:pt>
                <c:pt idx="48">
                  <c:v>0.51310259</c:v>
                </c:pt>
                <c:pt idx="49">
                  <c:v>0.35019685</c:v>
                </c:pt>
                <c:pt idx="50">
                  <c:v>0.14723662</c:v>
                </c:pt>
                <c:pt idx="51">
                  <c:v>0.52704214</c:v>
                </c:pt>
                <c:pt idx="52">
                  <c:v>1.22713658</c:v>
                </c:pt>
                <c:pt idx="53">
                  <c:v>0.57355347</c:v>
                </c:pt>
                <c:pt idx="54">
                  <c:v>0.31816439</c:v>
                </c:pt>
                <c:pt idx="55">
                  <c:v>0.63900447</c:v>
                </c:pt>
                <c:pt idx="56">
                  <c:v>0.57086135</c:v>
                </c:pt>
                <c:pt idx="57">
                  <c:v>0.63611326</c:v>
                </c:pt>
                <c:pt idx="58">
                  <c:v>0.43444153</c:v>
                </c:pt>
                <c:pt idx="59">
                  <c:v>0.36729741</c:v>
                </c:pt>
                <c:pt idx="60">
                  <c:v>0.28767268</c:v>
                </c:pt>
                <c:pt idx="61">
                  <c:v>0.65013692</c:v>
                </c:pt>
                <c:pt idx="62">
                  <c:v>0.55703686</c:v>
                </c:pt>
                <c:pt idx="63">
                  <c:v>0.57439102</c:v>
                </c:pt>
                <c:pt idx="64">
                  <c:v>0.38392845</c:v>
                </c:pt>
                <c:pt idx="65">
                  <c:v>0.64905712</c:v>
                </c:pt>
                <c:pt idx="66">
                  <c:v>0.30783599</c:v>
                </c:pt>
                <c:pt idx="67">
                  <c:v>0.4527452</c:v>
                </c:pt>
                <c:pt idx="68">
                  <c:v>0.27299762</c:v>
                </c:pt>
                <c:pt idx="69">
                  <c:v>0.43594095</c:v>
                </c:pt>
                <c:pt idx="70">
                  <c:v>0.40001927</c:v>
                </c:pt>
                <c:pt idx="71">
                  <c:v>0.41256753</c:v>
                </c:pt>
                <c:pt idx="72">
                  <c:v>0.15271967</c:v>
                </c:pt>
                <c:pt idx="73">
                  <c:v>0.33052072</c:v>
                </c:pt>
                <c:pt idx="74">
                  <c:v>0.36363158</c:v>
                </c:pt>
                <c:pt idx="75">
                  <c:v>0.28928901</c:v>
                </c:pt>
                <c:pt idx="76">
                  <c:v>0.43022192</c:v>
                </c:pt>
                <c:pt idx="77">
                  <c:v>0.22801232</c:v>
                </c:pt>
                <c:pt idx="78">
                  <c:v>0.64910933</c:v>
                </c:pt>
                <c:pt idx="79">
                  <c:v>0.11410411</c:v>
                </c:pt>
                <c:pt idx="80">
                  <c:v>0.40815896</c:v>
                </c:pt>
                <c:pt idx="81">
                  <c:v>0.55238044</c:v>
                </c:pt>
                <c:pt idx="82">
                  <c:v>0.60961518</c:v>
                </c:pt>
                <c:pt idx="83">
                  <c:v>0.5156817</c:v>
                </c:pt>
                <c:pt idx="84">
                  <c:v>0.67418742</c:v>
                </c:pt>
                <c:pt idx="85">
                  <c:v>0.02840737</c:v>
                </c:pt>
                <c:pt idx="86">
                  <c:v>1.06804097</c:v>
                </c:pt>
                <c:pt idx="87">
                  <c:v>0.13681161</c:v>
                </c:pt>
                <c:pt idx="88">
                  <c:v>0.38057884</c:v>
                </c:pt>
                <c:pt idx="89">
                  <c:v>0.32319448</c:v>
                </c:pt>
                <c:pt idx="90">
                  <c:v>0.60712543</c:v>
                </c:pt>
                <c:pt idx="91">
                  <c:v>0.18869098</c:v>
                </c:pt>
                <c:pt idx="92">
                  <c:v>0.38637982</c:v>
                </c:pt>
                <c:pt idx="93">
                  <c:v>0.37414625</c:v>
                </c:pt>
                <c:pt idx="94">
                  <c:v>0.08745547</c:v>
                </c:pt>
                <c:pt idx="95">
                  <c:v>0.29567991</c:v>
                </c:pt>
                <c:pt idx="96">
                  <c:v>0.17992838</c:v>
                </c:pt>
                <c:pt idx="97">
                  <c:v>0.49642889</c:v>
                </c:pt>
                <c:pt idx="98">
                  <c:v>1.01381031</c:v>
                </c:pt>
                <c:pt idx="99">
                  <c:v>0.83959377</c:v>
                </c:pt>
                <c:pt idx="100">
                  <c:v>0.33018072</c:v>
                </c:pt>
                <c:pt idx="101">
                  <c:v>0.56147261</c:v>
                </c:pt>
                <c:pt idx="102">
                  <c:v>0.55341448</c:v>
                </c:pt>
                <c:pt idx="103">
                  <c:v>0.28879771</c:v>
                </c:pt>
                <c:pt idx="104">
                  <c:v>0.30836831</c:v>
                </c:pt>
                <c:pt idx="105">
                  <c:v>0.56342651</c:v>
                </c:pt>
                <c:pt idx="106">
                  <c:v>0.64897631</c:v>
                </c:pt>
                <c:pt idx="107">
                  <c:v>0.51967814</c:v>
                </c:pt>
                <c:pt idx="108">
                  <c:v>0.45108018</c:v>
                </c:pt>
                <c:pt idx="109">
                  <c:v>0.36620502</c:v>
                </c:pt>
                <c:pt idx="110">
                  <c:v>0.20946204</c:v>
                </c:pt>
                <c:pt idx="111">
                  <c:v>0.34477203</c:v>
                </c:pt>
                <c:pt idx="112">
                  <c:v>0.16581374</c:v>
                </c:pt>
                <c:pt idx="113">
                  <c:v>0.2413027</c:v>
                </c:pt>
                <c:pt idx="114">
                  <c:v>0.2969607</c:v>
                </c:pt>
                <c:pt idx="115">
                  <c:v>0.20335126</c:v>
                </c:pt>
                <c:pt idx="116">
                  <c:v>0.21023394</c:v>
                </c:pt>
                <c:pt idx="117">
                  <c:v>0.96620879</c:v>
                </c:pt>
                <c:pt idx="118">
                  <c:v>0.45698251</c:v>
                </c:pt>
                <c:pt idx="119">
                  <c:v>0.4983653</c:v>
                </c:pt>
                <c:pt idx="120">
                  <c:v>0.52143001</c:v>
                </c:pt>
                <c:pt idx="121">
                  <c:v>0.38747629</c:v>
                </c:pt>
                <c:pt idx="122">
                  <c:v>0.35437438</c:v>
                </c:pt>
                <c:pt idx="123">
                  <c:v>0.32823358</c:v>
                </c:pt>
                <c:pt idx="124">
                  <c:v>0.49527138</c:v>
                </c:pt>
                <c:pt idx="125">
                  <c:v>1.73718333</c:v>
                </c:pt>
                <c:pt idx="126">
                  <c:v>0.81802136</c:v>
                </c:pt>
                <c:pt idx="127">
                  <c:v>0.10205821</c:v>
                </c:pt>
              </c:numCache>
            </c:numRef>
          </c:yVal>
        </c:ser>
        <c:ser>
          <c:idx val="1"/>
          <c:order val="1"/>
          <c:tx>
            <c:v>IVON</c:v>
          </c:tx>
          <c:spPr>
            <a:ln xmlns:a="http://schemas.openxmlformats.org/drawingml/2006/main" w="12383">
              <a:solidFill>
                <a:srgbClr val="F3AF68"/>
              </a:solidFill>
            </a:ln>
          </c:spPr>
          <c:marker>
            <c:symbol val="none"/>
          </c:marker>
          <c:xVal>
            <c:numRef>
              <c:f>'Chart Data'!$C$2:$C$129</c:f>
              <c:numCache>
                <c:formatCode>General</c:formatCode>
                <c:ptCount val="1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numCache>
            </c:numRef>
          </c:xVal>
          <c:yVal>
            <c:numRef>
              <c:f>'Chart Data'!$D$2:$D$129</c:f>
              <c:numCache>
                <c:formatCode>0.0</c:formatCode>
                <c:ptCount val="128"/>
                <c:pt idx="0">
                  <c:v>1.06351477</c:v>
                </c:pt>
                <c:pt idx="1">
                  <c:v>0.88732839</c:v>
                </c:pt>
                <c:pt idx="2">
                  <c:v>1.04687932</c:v>
                </c:pt>
                <c:pt idx="3">
                  <c:v>1.21043327</c:v>
                </c:pt>
                <c:pt idx="4">
                  <c:v>1.40273106</c:v>
                </c:pt>
                <c:pt idx="5">
                  <c:v>1.4933235</c:v>
                </c:pt>
                <c:pt idx="6">
                  <c:v>1.2218346</c:v>
                </c:pt>
                <c:pt idx="7">
                  <c:v>1.08679229</c:v>
                </c:pt>
                <c:pt idx="8">
                  <c:v>1.46170849</c:v>
                </c:pt>
                <c:pt idx="9">
                  <c:v>1.13091475</c:v>
                </c:pt>
                <c:pt idx="10">
                  <c:v>1.17130131</c:v>
                </c:pt>
                <c:pt idx="11">
                  <c:v>1.38119811</c:v>
                </c:pt>
                <c:pt idx="12">
                  <c:v>1.21752584</c:v>
                </c:pt>
                <c:pt idx="13">
                  <c:v>1.22709686</c:v>
                </c:pt>
                <c:pt idx="14">
                  <c:v>1.10272211</c:v>
                </c:pt>
                <c:pt idx="15">
                  <c:v>1.1386897</c:v>
                </c:pt>
                <c:pt idx="16">
                  <c:v>1.26497948</c:v>
                </c:pt>
                <c:pt idx="17">
                  <c:v>1.14788061</c:v>
                </c:pt>
                <c:pt idx="18">
                  <c:v>0.88393694</c:v>
                </c:pt>
                <c:pt idx="19">
                  <c:v>1.2638849</c:v>
                </c:pt>
                <c:pt idx="20">
                  <c:v>1.02608776</c:v>
                </c:pt>
                <c:pt idx="21">
                  <c:v>1.02296206</c:v>
                </c:pt>
                <c:pt idx="22">
                  <c:v>1.06286409</c:v>
                </c:pt>
                <c:pt idx="23">
                  <c:v>1.2119202</c:v>
                </c:pt>
                <c:pt idx="24">
                  <c:v>1.11106133</c:v>
                </c:pt>
                <c:pt idx="25">
                  <c:v>1.59431994</c:v>
                </c:pt>
                <c:pt idx="26">
                  <c:v>1.1744771</c:v>
                </c:pt>
                <c:pt idx="27">
                  <c:v>0.70568052</c:v>
                </c:pt>
                <c:pt idx="28">
                  <c:v>1.28582639</c:v>
                </c:pt>
                <c:pt idx="29">
                  <c:v>1.29567152</c:v>
                </c:pt>
                <c:pt idx="30">
                  <c:v>0.90023464</c:v>
                </c:pt>
                <c:pt idx="31">
                  <c:v>1.32226759</c:v>
                </c:pt>
                <c:pt idx="32">
                  <c:v>1.62212461</c:v>
                </c:pt>
                <c:pt idx="33">
                  <c:v>0.77936319</c:v>
                </c:pt>
                <c:pt idx="34">
                  <c:v>1.07087553</c:v>
                </c:pt>
                <c:pt idx="35">
                  <c:v>0.68771142</c:v>
                </c:pt>
                <c:pt idx="36">
                  <c:v>0.81150976</c:v>
                </c:pt>
                <c:pt idx="37">
                  <c:v>1.45592433</c:v>
                </c:pt>
                <c:pt idx="38">
                  <c:v>1.21791983</c:v>
                </c:pt>
                <c:pt idx="39">
                  <c:v>1.04100433</c:v>
                </c:pt>
                <c:pt idx="40">
                  <c:v>1.07620788</c:v>
                </c:pt>
                <c:pt idx="41">
                  <c:v>1.32760614</c:v>
                </c:pt>
                <c:pt idx="42">
                  <c:v>1.60701299</c:v>
                </c:pt>
                <c:pt idx="43">
                  <c:v>1.14673072</c:v>
                </c:pt>
                <c:pt idx="44">
                  <c:v>1.06997317</c:v>
                </c:pt>
                <c:pt idx="45">
                  <c:v>1.03140408</c:v>
                </c:pt>
                <c:pt idx="46">
                  <c:v>0.80042291</c:v>
                </c:pt>
                <c:pt idx="47">
                  <c:v>0.84875178</c:v>
                </c:pt>
                <c:pt idx="48">
                  <c:v>1.00199008</c:v>
                </c:pt>
                <c:pt idx="49">
                  <c:v>1.06490299</c:v>
                </c:pt>
                <c:pt idx="50">
                  <c:v>0.57631457</c:v>
                </c:pt>
                <c:pt idx="51">
                  <c:v>0.47545059</c:v>
                </c:pt>
                <c:pt idx="52">
                  <c:v>1.16586846</c:v>
                </c:pt>
                <c:pt idx="53">
                  <c:v>1.07758641</c:v>
                </c:pt>
                <c:pt idx="54">
                  <c:v>0.45419456</c:v>
                </c:pt>
                <c:pt idx="55">
                  <c:v>0.93198231</c:v>
                </c:pt>
                <c:pt idx="56">
                  <c:v>1.41937053</c:v>
                </c:pt>
                <c:pt idx="57">
                  <c:v>0.99677634</c:v>
                </c:pt>
                <c:pt idx="58">
                  <c:v>0.55210884</c:v>
                </c:pt>
                <c:pt idx="59">
                  <c:v>0.55118339</c:v>
                </c:pt>
                <c:pt idx="60">
                  <c:v>0.76279938</c:v>
                </c:pt>
                <c:pt idx="61">
                  <c:v>0.77160928</c:v>
                </c:pt>
                <c:pt idx="62">
                  <c:v>0.56988591</c:v>
                </c:pt>
                <c:pt idx="63">
                  <c:v>1.17337626</c:v>
                </c:pt>
                <c:pt idx="64">
                  <c:v>0.92778914</c:v>
                </c:pt>
                <c:pt idx="65">
                  <c:v>1.2235693</c:v>
                </c:pt>
                <c:pt idx="66">
                  <c:v>0.97520971</c:v>
                </c:pt>
                <c:pt idx="67">
                  <c:v>0.93550482</c:v>
                </c:pt>
                <c:pt idx="68">
                  <c:v>1.2116659</c:v>
                </c:pt>
                <c:pt idx="69">
                  <c:v>0.97946274</c:v>
                </c:pt>
                <c:pt idx="70">
                  <c:v>0.90922397</c:v>
                </c:pt>
                <c:pt idx="71">
                  <c:v>1.22792441</c:v>
                </c:pt>
                <c:pt idx="72">
                  <c:v>0.9865469</c:v>
                </c:pt>
                <c:pt idx="73">
                  <c:v>1.19092858</c:v>
                </c:pt>
                <c:pt idx="74">
                  <c:v>0.59726191</c:v>
                </c:pt>
                <c:pt idx="75">
                  <c:v>1.00576237</c:v>
                </c:pt>
                <c:pt idx="76">
                  <c:v>0.87362874</c:v>
                </c:pt>
                <c:pt idx="77">
                  <c:v>0.95159</c:v>
                </c:pt>
                <c:pt idx="78">
                  <c:v>0.98963749</c:v>
                </c:pt>
                <c:pt idx="79">
                  <c:v>0.57183793</c:v>
                </c:pt>
                <c:pt idx="80">
                  <c:v>0.78729275</c:v>
                </c:pt>
                <c:pt idx="81">
                  <c:v>1.10180849</c:v>
                </c:pt>
                <c:pt idx="82">
                  <c:v>1.05888259</c:v>
                </c:pt>
                <c:pt idx="83">
                  <c:v>0.68649459</c:v>
                </c:pt>
                <c:pt idx="84">
                  <c:v>1.18904436</c:v>
                </c:pt>
                <c:pt idx="85">
                  <c:v>0.44853802</c:v>
                </c:pt>
                <c:pt idx="86">
                  <c:v>1.15968657</c:v>
                </c:pt>
                <c:pt idx="87">
                  <c:v>0.47194648</c:v>
                </c:pt>
                <c:pt idx="88">
                  <c:v>0.84131081</c:v>
                </c:pt>
                <c:pt idx="89">
                  <c:v>1.10171902</c:v>
                </c:pt>
                <c:pt idx="90">
                  <c:v>0.85757551</c:v>
                </c:pt>
                <c:pt idx="91">
                  <c:v>0.46888518</c:v>
                </c:pt>
                <c:pt idx="92">
                  <c:v>0.88446867</c:v>
                </c:pt>
                <c:pt idx="93">
                  <c:v>1.00658116</c:v>
                </c:pt>
                <c:pt idx="94">
                  <c:v>0.77268696</c:v>
                </c:pt>
                <c:pt idx="95">
                  <c:v>1.15015543</c:v>
                </c:pt>
                <c:pt idx="96">
                  <c:v>0.35997981</c:v>
                </c:pt>
                <c:pt idx="97">
                  <c:v>0.778225</c:v>
                </c:pt>
                <c:pt idx="98">
                  <c:v>0.86392266</c:v>
                </c:pt>
                <c:pt idx="99">
                  <c:v>1.46440268</c:v>
                </c:pt>
                <c:pt idx="100">
                  <c:v>0.82601389</c:v>
                </c:pt>
                <c:pt idx="101">
                  <c:v>0.8496598</c:v>
                </c:pt>
                <c:pt idx="102">
                  <c:v>1.00312781</c:v>
                </c:pt>
                <c:pt idx="103">
                  <c:v>0.96851414</c:v>
                </c:pt>
                <c:pt idx="104">
                  <c:v>0.93568778</c:v>
                </c:pt>
                <c:pt idx="105">
                  <c:v>0.81731391</c:v>
                </c:pt>
                <c:pt idx="106">
                  <c:v>0.94448107</c:v>
                </c:pt>
                <c:pt idx="107">
                  <c:v>1.39981398</c:v>
                </c:pt>
                <c:pt idx="108">
                  <c:v>0.83248758</c:v>
                </c:pt>
                <c:pt idx="109">
                  <c:v>1.19148654</c:v>
                </c:pt>
                <c:pt idx="110">
                  <c:v>0.89516032</c:v>
                </c:pt>
                <c:pt idx="111">
                  <c:v>0.89860168</c:v>
                </c:pt>
                <c:pt idx="112">
                  <c:v>0.65418348</c:v>
                </c:pt>
                <c:pt idx="113">
                  <c:v>1.2519654</c:v>
                </c:pt>
                <c:pt idx="114">
                  <c:v>1.17041749</c:v>
                </c:pt>
                <c:pt idx="115">
                  <c:v>0.71034181</c:v>
                </c:pt>
                <c:pt idx="116">
                  <c:v>1.25418422</c:v>
                </c:pt>
                <c:pt idx="117">
                  <c:v>0.75883621</c:v>
                </c:pt>
                <c:pt idx="118">
                  <c:v>1.01463917</c:v>
                </c:pt>
                <c:pt idx="119">
                  <c:v>1.15754122</c:v>
                </c:pt>
                <c:pt idx="120">
                  <c:v>0.71899003</c:v>
                </c:pt>
                <c:pt idx="121">
                  <c:v>0.70303422</c:v>
                </c:pt>
                <c:pt idx="122">
                  <c:v>0.9213233</c:v>
                </c:pt>
                <c:pt idx="123">
                  <c:v>0.84157786</c:v>
                </c:pt>
                <c:pt idx="124">
                  <c:v>1.07389429</c:v>
                </c:pt>
                <c:pt idx="125">
                  <c:v>1.65871304</c:v>
                </c:pt>
                <c:pt idx="126">
                  <c:v>1.06409138</c:v>
                </c:pt>
                <c:pt idx="127">
                  <c:v>0.6433025</c:v>
                </c:pt>
              </c:numCache>
            </c:numRef>
          </c:yVal>
        </c:ser>
        <c:axId val="48650112"/>
        <c:axId val="48672768"/>
      </c:scatterChart>
      <c:valAx>
        <c:axId val="48672768"/>
        <c:scaling>
          <c:orientation val="minMax"/>
          <c:max val="2.5"/>
          <c:min val="0"/>
        </c:scaling>
        <c:delete val="0"/>
        <c:axPos val="l"/>
        <c:majorGridlines>
          <c:spPr>
            <a:ln xmlns:a="http://schemas.openxmlformats.org/drawingml/2006/main" w="5715">
              <a:solidFill>
                <a:srgbClr val="333333"/>
              </a:solidFill>
            </a:ln>
          </c:spPr>
        </c:majorGridlines>
        <c:title>
          <c:tx>
            <c:rich>
              <a:bodyPr xmlns:a="http://schemas.openxmlformats.org/drawingml/2006/main"/>
              <a:lstStyle xmlns:a="http://schemas.openxmlformats.org/drawingml/2006/main"/>
              <a:p xmlns:a="http://schemas.openxmlformats.org/drawingml/2006/main">
                <a:r>
                  <a:rPr sz="1125">
                    <a:solidFill>
                      <a:srgbClr val="FFFFFF"/>
                    </a:solidFill>
                    <a:latin typeface="Helvetica Neue"/>
                    <a:ea typeface="Helvetica Neue"/>
                    <a:cs typeface="Helvetica Neue"/>
                  </a:rPr>
                  <a:t>Batch cross-entropy</a:t>
                </a:r>
              </a:p>
            </c:rich>
          </c:tx>
          <c:overlay val="0"/>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50112"/>
      </c:valAx>
      <c:valAx>
        <c:axId val="48650112"/>
        <c:scaling>
          <c:orientation val="minMax"/>
          <c:max val="128"/>
          <c:min val="1"/>
        </c:scaling>
        <c:delete val="0"/>
        <c:axPos val="b"/>
        <c:title>
          <c:tx>
            <c:rich>
              <a:bodyPr xmlns:a="http://schemas.openxmlformats.org/drawingml/2006/main"/>
              <a:lstStyle xmlns:a="http://schemas.openxmlformats.org/drawingml/2006/main"/>
              <a:p xmlns:a="http://schemas.openxmlformats.org/drawingml/2006/main">
                <a:r>
                  <a:rPr sz="1275">
                    <a:solidFill>
                      <a:srgbClr val="FFFFFF"/>
                    </a:solidFill>
                    <a:latin typeface="Helvetica Neue"/>
                    <a:ea typeface="Helvetica Neue"/>
                    <a:cs typeface="Helvetica Neue"/>
                  </a:rPr>
                  <a:t>Update step</a:t>
                </a:r>
              </a:p>
            </c:rich>
          </c:tx>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majorUnit val="32"/>
      </c:valAx>
      <c:spPr>
        <a:solidFill xmlns:a="http://schemas.openxmlformats.org/drawingml/2006/main">
          <a:srgbClr val="00000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FFFFF"/>
              </a:solidFill>
              <a:latin typeface="Helvetica Neue"/>
              <a:ea typeface="Helvetica Neue"/>
              <a:cs typeface="Helvetica Neue"/>
            </a:defRPr>
          </a:pPr>
        </a:p>
      </c:txPr>
    </c:legend>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FFFFFF"/>
                </a:solidFill>
                <a:latin typeface="Helvetica Neue"/>
                <a:ea typeface="Helvetica Neue"/>
                <a:cs typeface="Helvetica Neue"/>
              </a:rPr>
              <a:t>Mean confidence and accuracy (%)</a:t>
            </a:r>
          </a:p>
        </c:rich>
      </c:tx>
      <c:overlay val="0"/>
      <c:txPr>
        <a:bodyPr xmlns:a="http://schemas.openxmlformats.org/drawingml/2006/main" anchorCtr="1"/>
        <a:lstStyle xmlns:a="http://schemas.openxmlformats.org/drawingml/2006/main"/>
        <a:p xmlns:a="http://schemas.openxmlformats.org/drawingml/2006/main">
          <a:pPr>
            <a:defRPr sz="1725" b="1">
              <a:solidFill>
                <a:srgbClr val="FFFFFF"/>
              </a:solidFill>
              <a:latin typeface="Helvetica Neue"/>
              <a:ea typeface="Helvetica Neue"/>
              <a:cs typeface="Helvetica Neue"/>
            </a:defRPr>
          </a:pPr>
        </a:p>
      </c:txPr>
    </c:title>
    <c:plotArea>
      <c:barChart>
        <c:barDir val="col"/>
        <c:grouping val="clustered"/>
        <c:varyColors val="0"/>
        <c:ser>
          <c:idx val="0"/>
          <c:order val="0"/>
          <c:tx>
            <c:v>Confidence</c:v>
          </c:tx>
          <c:spPr>
            <a:solidFill xmlns:a="http://schemas.openxmlformats.org/drawingml/2006/main">
              <a:srgbClr val="6DCBF4"/>
            </a:solidFill>
          </c:spPr>
          <c:cat>
            <c:strRef>
              <c:f>'Chart Data'!$A$2:$A$4</c:f>
              <c:strCache>
                <c:ptCount val="3"/>
                <c:pt idx="0">
                  <c:v>AdamW</c:v>
                </c:pt>
                <c:pt idx="1">
                  <c:v>IVON mean</c:v>
                </c:pt>
                <c:pt idx="2">
                  <c:v>IVON 10 draws</c:v>
                </c:pt>
              </c:strCache>
            </c:strRef>
          </c:cat>
          <c:val>
            <c:numRef>
              <c:f>'Chart Data'!$B$2:$B$4</c:f>
              <c:numCache>
                <c:formatCode>0.0</c:formatCode>
                <c:ptCount val="3"/>
                <c:pt idx="0">
                  <c:v>79.38094672</c:v>
                </c:pt>
                <c:pt idx="1">
                  <c:v>71.67493794</c:v>
                </c:pt>
                <c:pt idx="2">
                  <c:v>52.13357269</c:v>
                </c:pt>
              </c:numCache>
            </c:numRef>
          </c:val>
        </c:ser>
        <c:ser>
          <c:idx val="1"/>
          <c:order val="1"/>
          <c:tx>
            <c:v>Accuracy</c:v>
          </c:tx>
          <c:spPr>
            <a:solidFill xmlns:a="http://schemas.openxmlformats.org/drawingml/2006/main">
              <a:srgbClr val="F3AF68"/>
            </a:solidFill>
          </c:spPr>
          <c:cat>
            <c:strRef>
              <c:f>'Chart Data'!$C$2:$C$4</c:f>
              <c:strCache>
                <c:ptCount val="3"/>
                <c:pt idx="0">
                  <c:v>AdamW</c:v>
                </c:pt>
                <c:pt idx="1">
                  <c:v>IVON mean</c:v>
                </c:pt>
                <c:pt idx="2">
                  <c:v>IVON 10 draws</c:v>
                </c:pt>
              </c:strCache>
            </c:strRef>
          </c:cat>
          <c:val>
            <c:numRef>
              <c:f>'Chart Data'!$D$2:$D$4</c:f>
              <c:numCache>
                <c:formatCode>0.0</c:formatCode>
                <c:ptCount val="3"/>
                <c:pt idx="0">
                  <c:v>73.17708333</c:v>
                </c:pt>
                <c:pt idx="1">
                  <c:v>72.13541667</c:v>
                </c:pt>
                <c:pt idx="2">
                  <c:v>69.40104167</c:v>
                </c:pt>
              </c:numCache>
            </c:numRef>
          </c:val>
        </c:ser>
        <c:dLbls>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77777"/>
            </a:solidFill>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571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50112"/>
        <c:crossBetween val="between"/>
        <c:majorUnit val="20"/>
      </c:valAx>
      <c:spPr>
        <a:solidFill xmlns:a="http://schemas.openxmlformats.org/drawingml/2006/main">
          <a:srgbClr val="00000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FFFFF"/>
              </a:solidFill>
              <a:latin typeface="Helvetica Neue"/>
              <a:ea typeface="Helvetica Neue"/>
              <a:cs typeface="Helvetica Neue"/>
            </a:defRPr>
          </a:pPr>
        </a:p>
      </c:txPr>
    </c:legend>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FFFFFF"/>
                </a:solidFill>
                <a:latin typeface="Helvetica Neue"/>
                <a:ea typeface="Helvetica Neue"/>
                <a:cs typeface="Helvetica Neue"/>
              </a:rPr>
              <a:t>Mean training time (seconds)</a:t>
            </a:r>
          </a:p>
        </c:rich>
      </c:tx>
      <c:overlay val="0"/>
      <c:txPr>
        <a:bodyPr xmlns:a="http://schemas.openxmlformats.org/drawingml/2006/main" anchorCtr="1"/>
        <a:lstStyle xmlns:a="http://schemas.openxmlformats.org/drawingml/2006/main"/>
        <a:p xmlns:a="http://schemas.openxmlformats.org/drawingml/2006/main">
          <a:pPr>
            <a:defRPr sz="1725" b="1">
              <a:solidFill>
                <a:srgbClr val="FFFFFF"/>
              </a:solidFill>
              <a:latin typeface="Helvetica Neue"/>
              <a:ea typeface="Helvetica Neue"/>
              <a:cs typeface="Helvetica Neue"/>
            </a:defRPr>
          </a:pPr>
        </a:p>
      </c:txPr>
    </c:title>
    <c:plotArea>
      <c:barChart>
        <c:barDir val="col"/>
        <c:grouping val="clustered"/>
        <c:varyColors val="0"/>
        <c:ser>
          <c:idx val="0"/>
          <c:order val="0"/>
          <c:tx>
            <c:v>Training</c:v>
          </c:tx>
          <c:spPr>
            <a:solidFill xmlns:a="http://schemas.openxmlformats.org/drawingml/2006/main">
              <a:srgbClr val="6DCBF4"/>
            </a:solidFill>
          </c:spPr>
          <c:cat>
            <c:strRef>
              <c:f>'Chart Data'!$A$2:$A$3</c:f>
              <c:strCache>
                <c:ptCount val="2"/>
                <c:pt idx="0">
                  <c:v>AdamW</c:v>
                </c:pt>
                <c:pt idx="1">
                  <c:v>IVON</c:v>
                </c:pt>
              </c:strCache>
            </c:strRef>
          </c:cat>
          <c:val>
            <c:numRef>
              <c:f>'Chart Data'!$B$2:$B$3</c:f>
              <c:numCache>
                <c:formatCode>0.0</c:formatCode>
                <c:ptCount val="2"/>
                <c:pt idx="0">
                  <c:v>49.33212601</c:v>
                </c:pt>
                <c:pt idx="1">
                  <c:v>51.70239486</c:v>
                </c:pt>
              </c:numCache>
            </c:numRef>
          </c:val>
        </c:ser>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77777"/>
            </a:solidFill>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catAx>
      <c:valAx>
        <c:axId val="48672768"/>
        <c:scaling>
          <c:orientation val="minMax"/>
          <c:max val="65"/>
          <c:min val="0"/>
        </c:scaling>
        <c:delete val="0"/>
        <c:axPos val="l"/>
        <c:majorGridlines>
          <c:spPr>
            <a:ln xmlns:a="http://schemas.openxmlformats.org/drawingml/2006/main" w="571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50112"/>
        <c:crossBetween val="between"/>
      </c:valAx>
      <c:spPr>
        <a:solidFill xmlns:a="http://schemas.openxmlformats.org/drawingml/2006/main">
          <a:srgbClr val="000000"/>
        </a:solidFill>
        <a:ln xmlns:a="http://schemas.openxmlformats.org/drawingml/2006/main" w="0">
          <a:noFill/>
        </a:ln>
      </c:spPr>
    </c:plotArea>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FFFFFF"/>
                </a:solidFill>
                <a:latin typeface="Helvetica Neue"/>
                <a:ea typeface="Helvetica Neue"/>
                <a:cs typeface="Helvetica Neue"/>
              </a:rPr>
              <a:t>Mean test prediction time (seconds)</a:t>
            </a:r>
          </a:p>
        </c:rich>
      </c:tx>
      <c:overlay val="0"/>
      <c:txPr>
        <a:bodyPr xmlns:a="http://schemas.openxmlformats.org/drawingml/2006/main" anchorCtr="1"/>
        <a:lstStyle xmlns:a="http://schemas.openxmlformats.org/drawingml/2006/main"/>
        <a:p xmlns:a="http://schemas.openxmlformats.org/drawingml/2006/main">
          <a:pPr>
            <a:defRPr sz="1725" b="1">
              <a:solidFill>
                <a:srgbClr val="FFFFFF"/>
              </a:solidFill>
              <a:latin typeface="Helvetica Neue"/>
              <a:ea typeface="Helvetica Neue"/>
              <a:cs typeface="Helvetica Neue"/>
            </a:defRPr>
          </a:pPr>
        </a:p>
      </c:txPr>
    </c:title>
    <c:plotArea>
      <c:barChart>
        <c:barDir val="col"/>
        <c:grouping val="clustered"/>
        <c:varyColors val="0"/>
        <c:ser>
          <c:idx val="0"/>
          <c:order val="0"/>
          <c:tx>
            <c:v>Prediction</c:v>
          </c:tx>
          <c:spPr>
            <a:solidFill xmlns:a="http://schemas.openxmlformats.org/drawingml/2006/main">
              <a:srgbClr val="F3AF68"/>
            </a:solidFill>
          </c:spPr>
          <c:cat>
            <c:strRef>
              <c:f>'Chart Data'!$A$2:$A$4</c:f>
              <c:strCache>
                <c:ptCount val="3"/>
                <c:pt idx="0">
                  <c:v>AdamW</c:v>
                </c:pt>
                <c:pt idx="1">
                  <c:v>IVON mean</c:v>
                </c:pt>
                <c:pt idx="2">
                  <c:v>IVON 10 draws</c:v>
                </c:pt>
              </c:strCache>
            </c:strRef>
          </c:cat>
          <c:val>
            <c:numRef>
              <c:f>'Chart Data'!$B$2:$B$4</c:f>
              <c:numCache>
                <c:formatCode>0.0</c:formatCode>
                <c:ptCount val="3"/>
                <c:pt idx="0">
                  <c:v>6.79807126</c:v>
                </c:pt>
                <c:pt idx="1">
                  <c:v>7.20507719</c:v>
                </c:pt>
                <c:pt idx="2">
                  <c:v>71.58822777</c:v>
                </c:pt>
              </c:numCache>
            </c:numRef>
          </c:val>
        </c:ser>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77777"/>
            </a:solidFill>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catAx>
      <c:valAx>
        <c:axId val="48672768"/>
        <c:scaling>
          <c:orientation val="minMax"/>
          <c:max val="80"/>
          <c:min val="0"/>
        </c:scaling>
        <c:delete val="0"/>
        <c:axPos val="l"/>
        <c:majorGridlines>
          <c:spPr>
            <a:ln xmlns:a="http://schemas.openxmlformats.org/drawingml/2006/main" w="571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50112"/>
        <c:crossBetween val="between"/>
      </c:valAx>
      <c:spPr>
        <a:solidFill xmlns:a="http://schemas.openxmlformats.org/drawingml/2006/main">
          <a:srgbClr val="000000"/>
        </a:solidFill>
        <a:ln xmlns:a="http://schemas.openxmlformats.org/drawingml/2006/main" w="0">
          <a:noFill/>
        </a:ln>
      </c:spPr>
    </c:plotArea>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Variational Low-Rank</a:t>
            </a:r>
          </a:p>
          <a:p xmlns:a="http://schemas.openxmlformats.org/drawingml/2006/main">
            <a:pPr>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Adaptation Using IVON</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650">
                <a:solidFill>
                  <a:srgbClr val="FFFFFF"/>
                </a:solidFill>
                <a:latin typeface="Helvetica Neue"/>
                <a:ea typeface="Helvetica Neue"/>
                <a:cs typeface="Helvetica Neue"/>
              </a:defRPr>
            </a:pPr>
            <a:r>
              <a:rPr sz="1650">
                <a:solidFill>
                  <a:srgbClr val="FFFFFF"/>
                </a:solidFill>
                <a:latin typeface="Helvetica Neue"/>
                <a:ea typeface="Helvetica Neue"/>
                <a:cs typeface="Helvetica Neue"/>
              </a:rPr>
              <a:t>Siddhu, Pathlavath Shiva Kumar</a:t>
            </a:r>
          </a:p>
          <a:p xmlns:a="http://schemas.openxmlformats.org/drawingml/2006/main">
            <a:pPr>
              <a:defRPr sz="1650">
                <a:solidFill>
                  <a:srgbClr val="FFFFFF"/>
                </a:solidFill>
                <a:latin typeface="Helvetica Neue"/>
                <a:ea typeface="Helvetica Neue"/>
                <a:cs typeface="Helvetica Neue"/>
              </a:defRPr>
            </a:pPr>
            <a:r>
              <a:rPr sz="1650">
                <a:solidFill>
                  <a:srgbClr val="FFFFFF"/>
                </a:solidFill>
                <a:latin typeface="Helvetica Neue"/>
                <a:ea typeface="Helvetica Neue"/>
                <a:cs typeface="Helvetica Neue"/>
              </a:rPr>
              <a:t>Gugulothu Ganesh</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Bayesian Learning</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Qwen2.5-0.5B reproduction</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ad89983711734e44"/>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Research question and experiment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534" name="">
            <a:extLst xmlns:a="http://schemas.openxmlformats.org/drawingml/2006/main">
              <a:ext uri="{FF2B5EF4-FFF2-40B4-BE49-F238E27FC236}">
                <a16:creationId xmlns:a16="http://schemas.microsoft.com/office/drawing/2014/main" id="{B0C318C0-7F76-4EFA-9774-038CFDE5A589}"/>
              </a:ext>
            </a:extLst>
          </p:cNvPr>
          <p:cNvSpPr>
            <a:spLocks xmlns:a="http://schemas.openxmlformats.org/drawingml/2006/main" noGrp="1"/>
          </p:cNvSpPr>
          <p:nvPr/>
        </p:nvSpPr>
        <p:spPr>
          <a:xfrm xmlns:a="http://schemas.openxmlformats.org/drawingml/2006/main">
            <a:off x="400050" y="17145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6DCBF4"/>
                </a:solidFill>
                <a:latin typeface="Helvetica Neue"/>
                <a:ea typeface="Helvetica Neue"/>
                <a:cs typeface="Helvetica Neue"/>
              </a:defRPr>
            </a:pPr>
            <a:r>
              <a:rPr sz="2400" b="1">
                <a:solidFill>
                  <a:srgbClr val="6DCBF4"/>
                </a:solidFill>
                <a:latin typeface="Helvetica Neue"/>
                <a:ea typeface="Helvetica Neue"/>
                <a:cs typeface="Helvetica Neue"/>
              </a:rPr>
              <a:t>Does IVON improve confidence quality in a smaller language model?</a:t>
            </a:r>
          </a:p>
        </p:txBody>
      </p:sp>
      <p:sp>
        <p:nvSpPr>
          <p:cNvPr id="535" name="">
            <a:extLst xmlns:a="http://schemas.openxmlformats.org/drawingml/2006/main">
              <a:ext uri="{FF2B5EF4-FFF2-40B4-BE49-F238E27FC236}">
                <a16:creationId xmlns:a16="http://schemas.microsoft.com/office/drawing/2014/main" id="{551D1196-D137-4C60-BA29-5B506D1AD9E9}"/>
              </a:ext>
            </a:extLst>
          </p:cNvPr>
          <p:cNvSpPr>
            <a:spLocks xmlns:a="http://schemas.openxmlformats.org/drawingml/2006/main" noGrp="1"/>
          </p:cNvSpPr>
          <p:nvPr/>
        </p:nvSpPr>
        <p:spPr>
          <a:xfrm xmlns:a="http://schemas.openxmlformats.org/drawingml/2006/main">
            <a:off x="400050" y="3048000"/>
            <a:ext cx="2381250" cy="11906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ARC-Easy</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question + options</a:t>
            </a:r>
          </a:p>
        </p:txBody>
      </p:sp>
      <p:sp>
        <p:nvSpPr>
          <p:cNvPr id="536" name="">
            <a:extLst xmlns:a="http://schemas.openxmlformats.org/drawingml/2006/main">
              <a:ext uri="{FF2B5EF4-FFF2-40B4-BE49-F238E27FC236}">
                <a16:creationId xmlns:a16="http://schemas.microsoft.com/office/drawing/2014/main" id="{F0B154FA-30FB-43A3-88E6-13A3A5414043}"/>
              </a:ext>
            </a:extLst>
          </p:cNvPr>
          <p:cNvSpPr>
            <a:spLocks xmlns:a="http://schemas.openxmlformats.org/drawingml/2006/main" noGrp="1"/>
          </p:cNvSpPr>
          <p:nvPr/>
        </p:nvSpPr>
        <p:spPr>
          <a:xfrm xmlns:a="http://schemas.openxmlformats.org/drawingml/2006/main">
            <a:off x="3400425" y="3048000"/>
            <a:ext cx="2381250" cy="11906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Qwen2.5-0.5B</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with LoRA</a:t>
            </a:r>
          </a:p>
        </p:txBody>
      </p:sp>
      <p:sp>
        <p:nvSpPr>
          <p:cNvPr id="537" name="">
            <a:extLst xmlns:a="http://schemas.openxmlformats.org/drawingml/2006/main">
              <a:ext uri="{FF2B5EF4-FFF2-40B4-BE49-F238E27FC236}">
                <a16:creationId xmlns:a16="http://schemas.microsoft.com/office/drawing/2014/main" id="{B788DFAD-C526-4EA5-83EE-D570DE1C4EE9}"/>
              </a:ext>
            </a:extLst>
          </p:cNvPr>
          <p:cNvSpPr>
            <a:spLocks xmlns:a="http://schemas.openxmlformats.org/drawingml/2006/main" noGrp="1"/>
          </p:cNvSpPr>
          <p:nvPr/>
        </p:nvSpPr>
        <p:spPr>
          <a:xfrm xmlns:a="http://schemas.openxmlformats.org/drawingml/2006/main">
            <a:off x="6400800" y="3048000"/>
            <a:ext cx="2381250" cy="11906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AdamW or IVON</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adapter training</a:t>
            </a:r>
          </a:p>
        </p:txBody>
      </p:sp>
      <p:sp>
        <p:nvSpPr>
          <p:cNvPr id="538" name="">
            <a:extLst xmlns:a="http://schemas.openxmlformats.org/drawingml/2006/main">
              <a:ext uri="{FF2B5EF4-FFF2-40B4-BE49-F238E27FC236}">
                <a16:creationId xmlns:a16="http://schemas.microsoft.com/office/drawing/2014/main" id="{22788BDA-0C3C-4EAF-9738-0AD408F6105B}"/>
              </a:ext>
            </a:extLst>
          </p:cNvPr>
          <p:cNvSpPr>
            <a:spLocks xmlns:a="http://schemas.openxmlformats.org/drawingml/2006/main" noGrp="1"/>
          </p:cNvSpPr>
          <p:nvPr/>
        </p:nvSpPr>
        <p:spPr>
          <a:xfrm xmlns:a="http://schemas.openxmlformats.org/drawingml/2006/main">
            <a:off x="9401175" y="3048000"/>
            <a:ext cx="2381250" cy="11906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Held-out</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predictions</a:t>
            </a:r>
          </a:p>
        </p:txBody>
      </p:sp>
      <p:cxnSp>
        <p:nvCxnSpPr>
          <p:cNvPr id="553" name=""/>
          <p:cNvCxnSpPr>
            <a:stCxn xmlns:a="http://schemas.openxmlformats.org/drawingml/2006/main" id="535" idx="3"/>
            <a:endCxn xmlns:a="http://schemas.openxmlformats.org/drawingml/2006/main" id="536" idx="1"/>
          </p:cNvCxnSpPr>
          <p:nvPr/>
        </p:nvCxnSpPr>
        <p:spPr>
          <a:xfrm xmlns:a="http://schemas.openxmlformats.org/drawingml/2006/main">
            <a:off x="2781300" y="3643313"/>
            <a:ext cx="619125" cy="0"/>
          </a:xfrm>
          <a:prstGeom xmlns:a="http://schemas.openxmlformats.org/drawingml/2006/main" prst="straightConnector1">
            <a:avLst/>
          </a:prstGeom>
          <a:ln xmlns:a="http://schemas.openxmlformats.org/drawingml/2006/main" w="19050">
            <a:solidFill>
              <a:srgbClr val="6DCBF4"/>
            </a:solidFill>
            <a:tailEnd type="arrow" w="med" len="med"/>
          </a:ln>
        </p:spPr>
      </p:cxnSp>
      <p:cxnSp>
        <p:nvCxnSpPr>
          <p:cNvPr id="554" name=""/>
          <p:cNvCxnSpPr>
            <a:stCxn xmlns:a="http://schemas.openxmlformats.org/drawingml/2006/main" id="536" idx="3"/>
            <a:endCxn xmlns:a="http://schemas.openxmlformats.org/drawingml/2006/main" id="537" idx="1"/>
          </p:cNvCxnSpPr>
          <p:nvPr/>
        </p:nvCxnSpPr>
        <p:spPr>
          <a:xfrm xmlns:a="http://schemas.openxmlformats.org/drawingml/2006/main">
            <a:off x="5781675" y="3643313"/>
            <a:ext cx="619125" cy="0"/>
          </a:xfrm>
          <a:prstGeom xmlns:a="http://schemas.openxmlformats.org/drawingml/2006/main" prst="straightConnector1">
            <a:avLst/>
          </a:prstGeom>
          <a:ln xmlns:a="http://schemas.openxmlformats.org/drawingml/2006/main" w="19050">
            <a:solidFill>
              <a:srgbClr val="6DCBF4"/>
            </a:solidFill>
            <a:tailEnd type="arrow" w="med" len="med"/>
          </a:ln>
        </p:spPr>
      </p:cxnSp>
      <p:cxnSp>
        <p:nvCxnSpPr>
          <p:cNvPr id="555" name=""/>
          <p:cNvCxnSpPr>
            <a:stCxn xmlns:a="http://schemas.openxmlformats.org/drawingml/2006/main" id="537" idx="3"/>
            <a:endCxn xmlns:a="http://schemas.openxmlformats.org/drawingml/2006/main" id="538" idx="1"/>
          </p:cNvCxnSpPr>
          <p:nvPr/>
        </p:nvCxnSpPr>
        <p:spPr>
          <a:xfrm xmlns:a="http://schemas.openxmlformats.org/drawingml/2006/main">
            <a:off x="8782050" y="3643313"/>
            <a:ext cx="619125" cy="0"/>
          </a:xfrm>
          <a:prstGeom xmlns:a="http://schemas.openxmlformats.org/drawingml/2006/main" prst="straightConnector1">
            <a:avLst/>
          </a:prstGeom>
          <a:ln xmlns:a="http://schemas.openxmlformats.org/drawingml/2006/main" w="19050">
            <a:solidFill>
              <a:srgbClr val="6DCBF4"/>
            </a:solidFill>
            <a:tailEnd type="arrow" w="med" len="med"/>
          </a:ln>
        </p:spPr>
      </p:cxnSp>
      <p:sp>
        <p:nvSpPr>
          <p:cNvPr id="542" name="">
            <a:extLst xmlns:a="http://schemas.openxmlformats.org/drawingml/2006/main">
              <a:ext uri="{FF2B5EF4-FFF2-40B4-BE49-F238E27FC236}">
                <a16:creationId xmlns:a16="http://schemas.microsoft.com/office/drawing/2014/main" id="{CB477164-F889-4CD5-B5DB-0C2909EFAF6F}"/>
              </a:ext>
            </a:extLst>
          </p:cNvPr>
          <p:cNvSpPr>
            <a:spLocks xmlns:a="http://schemas.openxmlformats.org/drawingml/2006/main" noGrp="1"/>
          </p:cNvSpPr>
          <p:nvPr/>
        </p:nvSpPr>
        <p:spPr>
          <a:xfrm xmlns:a="http://schemas.openxmlformats.org/drawingml/2006/main">
            <a:off x="400050" y="4857750"/>
            <a:ext cx="1114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We measure accuracy, expected calibration error (ECE), and negative log-likelihood (NLL).</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LoRA trains small adapter matrices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534" name="">
            <a:extLst xmlns:a="http://schemas.openxmlformats.org/drawingml/2006/main">
              <a:ext uri="{FF2B5EF4-FFF2-40B4-BE49-F238E27FC236}">
                <a16:creationId xmlns:a16="http://schemas.microsoft.com/office/drawing/2014/main" id="{2AF43355-220C-457E-821C-D778F36058D4}"/>
              </a:ext>
            </a:extLst>
          </p:cNvPr>
          <p:cNvSpPr>
            <a:spLocks xmlns:a="http://schemas.openxmlformats.org/drawingml/2006/main" noGrp="1"/>
          </p:cNvSpPr>
          <p:nvPr/>
        </p:nvSpPr>
        <p:spPr>
          <a:xfrm xmlns:a="http://schemas.openxmlformats.org/drawingml/2006/main">
            <a:off x="400050" y="1666875"/>
            <a:ext cx="1123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6DCBF4"/>
                </a:solidFill>
                <a:latin typeface="Helvetica Neue"/>
                <a:ea typeface="Helvetica Neue"/>
                <a:cs typeface="Helvetica Neue"/>
              </a:defRPr>
            </a:pPr>
            <a:r>
              <a:rPr sz="2550" b="1">
                <a:solidFill>
                  <a:srgbClr val="6DCBF4"/>
                </a:solidFill>
                <a:latin typeface="Helvetica Neue"/>
                <a:ea typeface="Helvetica Neue"/>
                <a:cs typeface="Helvetica Neue"/>
              </a:rPr>
              <a:t>W′ = W + (α/r)BA</a:t>
            </a:r>
          </a:p>
        </p:txBody>
      </p:sp>
      <p:sp>
        <p:nvSpPr>
          <p:cNvPr id="535" name="">
            <a:extLst xmlns:a="http://schemas.openxmlformats.org/drawingml/2006/main">
              <a:ext uri="{FF2B5EF4-FFF2-40B4-BE49-F238E27FC236}">
                <a16:creationId xmlns:a16="http://schemas.microsoft.com/office/drawing/2014/main" id="{3D9DB39A-4B84-43F9-94CD-30D9D3528A15}"/>
              </a:ext>
            </a:extLst>
          </p:cNvPr>
          <p:cNvSpPr>
            <a:spLocks xmlns:a="http://schemas.openxmlformats.org/drawingml/2006/main" noGrp="1"/>
          </p:cNvSpPr>
          <p:nvPr/>
        </p:nvSpPr>
        <p:spPr>
          <a:xfrm xmlns:a="http://schemas.openxmlformats.org/drawingml/2006/main">
            <a:off x="400050" y="3571875"/>
            <a:ext cx="1571625" cy="8096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Input x</a:t>
            </a:r>
          </a:p>
        </p:txBody>
      </p:sp>
      <p:sp>
        <p:nvSpPr>
          <p:cNvPr id="536" name="">
            <a:extLst xmlns:a="http://schemas.openxmlformats.org/drawingml/2006/main">
              <a:ext uri="{FF2B5EF4-FFF2-40B4-BE49-F238E27FC236}">
                <a16:creationId xmlns:a16="http://schemas.microsoft.com/office/drawing/2014/main" id="{03A0B3C1-0B13-4805-8AE2-E4355906C46B}"/>
              </a:ext>
            </a:extLst>
          </p:cNvPr>
          <p:cNvSpPr>
            <a:spLocks xmlns:a="http://schemas.openxmlformats.org/drawingml/2006/main" noGrp="1"/>
          </p:cNvSpPr>
          <p:nvPr/>
        </p:nvSpPr>
        <p:spPr>
          <a:xfrm xmlns:a="http://schemas.openxmlformats.org/drawingml/2006/main">
            <a:off x="4095750" y="2524125"/>
            <a:ext cx="2857500" cy="1047750"/>
          </a:xfrm>
          <a:prstGeom xmlns:a="http://schemas.openxmlformats.org/drawingml/2006/main" prst="rect">
            <a:avLst/>
          </a:prstGeom>
          <a:solidFill xmlns:a="http://schemas.openxmlformats.org/drawingml/2006/main">
            <a:srgbClr val="101010"/>
          </a:solidFill>
          <a:ln xmlns:a="http://schemas.openxmlformats.org/drawingml/2006/main" w="19050">
            <a:solidFill>
              <a:srgbClr val="F3AF68"/>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Frozen W</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base model</a:t>
            </a:r>
          </a:p>
        </p:txBody>
      </p:sp>
      <p:sp>
        <p:nvSpPr>
          <p:cNvPr id="537" name="">
            <a:extLst xmlns:a="http://schemas.openxmlformats.org/drawingml/2006/main">
              <a:ext uri="{FF2B5EF4-FFF2-40B4-BE49-F238E27FC236}">
                <a16:creationId xmlns:a16="http://schemas.microsoft.com/office/drawing/2014/main" id="{89EF5CF2-5F8A-4314-9975-044AF7EB31B5}"/>
              </a:ext>
            </a:extLst>
          </p:cNvPr>
          <p:cNvSpPr>
            <a:spLocks xmlns:a="http://schemas.openxmlformats.org/drawingml/2006/main" noGrp="1"/>
          </p:cNvSpPr>
          <p:nvPr/>
        </p:nvSpPr>
        <p:spPr>
          <a:xfrm xmlns:a="http://schemas.openxmlformats.org/drawingml/2006/main">
            <a:off x="2762250" y="4572000"/>
            <a:ext cx="1905000" cy="90487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A</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rank 8</a:t>
            </a:r>
          </a:p>
        </p:txBody>
      </p:sp>
      <p:sp>
        <p:nvSpPr>
          <p:cNvPr id="538" name="">
            <a:extLst xmlns:a="http://schemas.openxmlformats.org/drawingml/2006/main">
              <a:ext uri="{FF2B5EF4-FFF2-40B4-BE49-F238E27FC236}">
                <a16:creationId xmlns:a16="http://schemas.microsoft.com/office/drawing/2014/main" id="{9C662923-19F8-442D-9DA0-BFD99477D59C}"/>
              </a:ext>
            </a:extLst>
          </p:cNvPr>
          <p:cNvSpPr>
            <a:spLocks xmlns:a="http://schemas.openxmlformats.org/drawingml/2006/main" noGrp="1"/>
          </p:cNvSpPr>
          <p:nvPr/>
        </p:nvSpPr>
        <p:spPr>
          <a:xfrm xmlns:a="http://schemas.openxmlformats.org/drawingml/2006/main">
            <a:off x="5715000" y="4572000"/>
            <a:ext cx="1905000" cy="90487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B</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scaled by α/r</a:t>
            </a:r>
          </a:p>
        </p:txBody>
      </p:sp>
      <p:sp>
        <p:nvSpPr>
          <p:cNvPr id="539" name="">
            <a:extLst xmlns:a="http://schemas.openxmlformats.org/drawingml/2006/main">
              <a:ext uri="{FF2B5EF4-FFF2-40B4-BE49-F238E27FC236}">
                <a16:creationId xmlns:a16="http://schemas.microsoft.com/office/drawing/2014/main" id="{F8D97F39-C3B3-404B-BDA0-5936F92DB370}"/>
              </a:ext>
            </a:extLst>
          </p:cNvPr>
          <p:cNvSpPr>
            <a:spLocks xmlns:a="http://schemas.openxmlformats.org/drawingml/2006/main" noGrp="1"/>
          </p:cNvSpPr>
          <p:nvPr/>
        </p:nvSpPr>
        <p:spPr>
          <a:xfrm xmlns:a="http://schemas.openxmlformats.org/drawingml/2006/main">
            <a:off x="8572500" y="3571875"/>
            <a:ext cx="857250" cy="8096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a:t>
            </a:r>
          </a:p>
        </p:txBody>
      </p:sp>
      <p:sp>
        <p:nvSpPr>
          <p:cNvPr id="540" name="">
            <a:extLst xmlns:a="http://schemas.openxmlformats.org/drawingml/2006/main">
              <a:ext uri="{FF2B5EF4-FFF2-40B4-BE49-F238E27FC236}">
                <a16:creationId xmlns:a16="http://schemas.microsoft.com/office/drawing/2014/main" id="{8E9BFEFA-9D04-4490-9E87-A475102EECAE}"/>
              </a:ext>
            </a:extLst>
          </p:cNvPr>
          <p:cNvSpPr>
            <a:spLocks xmlns:a="http://schemas.openxmlformats.org/drawingml/2006/main" noGrp="1"/>
          </p:cNvSpPr>
          <p:nvPr/>
        </p:nvSpPr>
        <p:spPr>
          <a:xfrm xmlns:a="http://schemas.openxmlformats.org/drawingml/2006/main">
            <a:off x="10287000" y="3571875"/>
            <a:ext cx="1495425" cy="8096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Output</a:t>
            </a:r>
          </a:p>
        </p:txBody>
      </p:sp>
      <p:cxnSp>
        <p:nvCxnSpPr>
          <p:cNvPr id="560" name=""/>
          <p:cNvCxnSpPr>
            <a:stCxn xmlns:a="http://schemas.openxmlformats.org/drawingml/2006/main" id="535" idx="3"/>
            <a:endCxn xmlns:a="http://schemas.openxmlformats.org/drawingml/2006/main" id="536" idx="1"/>
          </p:cNvCxnSpPr>
          <p:nvPr/>
        </p:nvCxnSpPr>
        <p:spPr>
          <a:xfrm xmlns:a="http://schemas.openxmlformats.org/drawingml/2006/main" flipV="1">
            <a:off x="1971675" y="3048000"/>
            <a:ext cx="2124075" cy="928688"/>
          </a:xfrm>
          <a:prstGeom xmlns:a="http://schemas.openxmlformats.org/drawingml/2006/main" prst="bentConnector3">
            <a:avLst>
              <a:gd name="adj1" fmla="val 50000"/>
            </a:avLst>
          </a:prstGeom>
          <a:ln xmlns:a="http://schemas.openxmlformats.org/drawingml/2006/main" w="19050">
            <a:solidFill>
              <a:srgbClr val="6DCBF4"/>
            </a:solidFill>
            <a:tailEnd type="arrow" w="med" len="med"/>
          </a:ln>
        </p:spPr>
      </p:cxnSp>
      <p:cxnSp>
        <p:nvCxnSpPr>
          <p:cNvPr id="561" name=""/>
          <p:cNvCxnSpPr>
            <a:stCxn xmlns:a="http://schemas.openxmlformats.org/drawingml/2006/main" id="535" idx="2"/>
            <a:endCxn xmlns:a="http://schemas.openxmlformats.org/drawingml/2006/main" id="537" idx="1"/>
          </p:cNvCxnSpPr>
          <p:nvPr/>
        </p:nvCxnSpPr>
        <p:spPr>
          <a:xfrm xmlns:a="http://schemas.openxmlformats.org/drawingml/2006/main">
            <a:off x="1185863" y="4381500"/>
            <a:ext cx="1576388" cy="642938"/>
          </a:xfrm>
          <a:prstGeom xmlns:a="http://schemas.openxmlformats.org/drawingml/2006/main" prst="bentConnector5">
            <a:avLst>
              <a:gd name="adj1" fmla="val 0"/>
              <a:gd name="adj2" fmla="val 35556"/>
              <a:gd name="adj3" fmla="val 85498"/>
            </a:avLst>
          </a:prstGeom>
          <a:ln xmlns:a="http://schemas.openxmlformats.org/drawingml/2006/main" w="19050">
            <a:solidFill>
              <a:srgbClr val="6DCBF4"/>
            </a:solidFill>
            <a:tailEnd type="arrow" w="med" len="med"/>
          </a:ln>
        </p:spPr>
      </p:cxnSp>
      <p:cxnSp>
        <p:nvCxnSpPr>
          <p:cNvPr id="562" name=""/>
          <p:cNvCxnSpPr>
            <a:stCxn xmlns:a="http://schemas.openxmlformats.org/drawingml/2006/main" id="537" idx="3"/>
            <a:endCxn xmlns:a="http://schemas.openxmlformats.org/drawingml/2006/main" id="538" idx="1"/>
          </p:cNvCxnSpPr>
          <p:nvPr/>
        </p:nvCxnSpPr>
        <p:spPr>
          <a:xfrm xmlns:a="http://schemas.openxmlformats.org/drawingml/2006/main">
            <a:off x="4667250" y="5024438"/>
            <a:ext cx="1047750" cy="0"/>
          </a:xfrm>
          <a:prstGeom xmlns:a="http://schemas.openxmlformats.org/drawingml/2006/main" prst="straightConnector1">
            <a:avLst/>
          </a:prstGeom>
          <a:ln xmlns:a="http://schemas.openxmlformats.org/drawingml/2006/main" w="19050">
            <a:solidFill>
              <a:srgbClr val="6DCBF4"/>
            </a:solidFill>
            <a:tailEnd type="arrow" w="med" len="med"/>
          </a:ln>
        </p:spPr>
      </p:cxnSp>
      <p:cxnSp>
        <p:nvCxnSpPr>
          <p:cNvPr id="563" name=""/>
          <p:cNvCxnSpPr>
            <a:stCxn xmlns:a="http://schemas.openxmlformats.org/drawingml/2006/main" id="536" idx="3"/>
            <a:endCxn xmlns:a="http://schemas.openxmlformats.org/drawingml/2006/main" id="539" idx="0"/>
          </p:cNvCxnSpPr>
          <p:nvPr/>
        </p:nvCxnSpPr>
        <p:spPr>
          <a:xfrm xmlns:a="http://schemas.openxmlformats.org/drawingml/2006/main">
            <a:off x="6953250" y="3048000"/>
            <a:ext cx="2047875" cy="523875"/>
          </a:xfrm>
          <a:prstGeom xmlns:a="http://schemas.openxmlformats.org/drawingml/2006/main" prst="bentConnector2">
            <a:avLst/>
          </a:prstGeom>
          <a:ln xmlns:a="http://schemas.openxmlformats.org/drawingml/2006/main" w="19050">
            <a:solidFill>
              <a:srgbClr val="6DCBF4"/>
            </a:solidFill>
            <a:tailEnd type="arrow" w="med" len="med"/>
          </a:ln>
        </p:spPr>
      </p:cxnSp>
      <p:cxnSp>
        <p:nvCxnSpPr>
          <p:cNvPr id="564" name=""/>
          <p:cNvCxnSpPr>
            <a:stCxn xmlns:a="http://schemas.openxmlformats.org/drawingml/2006/main" id="538" idx="3"/>
            <a:endCxn xmlns:a="http://schemas.openxmlformats.org/drawingml/2006/main" id="539" idx="2"/>
          </p:cNvCxnSpPr>
          <p:nvPr/>
        </p:nvCxnSpPr>
        <p:spPr>
          <a:xfrm xmlns:a="http://schemas.openxmlformats.org/drawingml/2006/main" flipV="1">
            <a:off x="7620000" y="4381500"/>
            <a:ext cx="1381125" cy="642938"/>
          </a:xfrm>
          <a:prstGeom xmlns:a="http://schemas.openxmlformats.org/drawingml/2006/main" prst="bentConnector2">
            <a:avLst/>
          </a:prstGeom>
          <a:ln xmlns:a="http://schemas.openxmlformats.org/drawingml/2006/main" w="19050">
            <a:solidFill>
              <a:srgbClr val="6DCBF4"/>
            </a:solidFill>
            <a:tailEnd type="arrow" w="med" len="med"/>
          </a:ln>
        </p:spPr>
      </p:cxnSp>
      <p:cxnSp>
        <p:nvCxnSpPr>
          <p:cNvPr id="565" name=""/>
          <p:cNvCxnSpPr>
            <a:stCxn xmlns:a="http://schemas.openxmlformats.org/drawingml/2006/main" id="539" idx="3"/>
            <a:endCxn xmlns:a="http://schemas.openxmlformats.org/drawingml/2006/main" id="540" idx="1"/>
          </p:cNvCxnSpPr>
          <p:nvPr/>
        </p:nvCxnSpPr>
        <p:spPr>
          <a:xfrm xmlns:a="http://schemas.openxmlformats.org/drawingml/2006/main">
            <a:off x="9429750" y="3976688"/>
            <a:ext cx="857250" cy="0"/>
          </a:xfrm>
          <a:prstGeom xmlns:a="http://schemas.openxmlformats.org/drawingml/2006/main" prst="straightConnector1">
            <a:avLst/>
          </a:prstGeom>
          <a:ln xmlns:a="http://schemas.openxmlformats.org/drawingml/2006/main" w="19050">
            <a:solidFill>
              <a:srgbClr val="6DCBF4"/>
            </a:solidFill>
            <a:tailEnd type="arrow" w="med" len="med"/>
          </a:ln>
        </p:spPr>
      </p:cxnSp>
      <p:sp>
        <p:nvSpPr>
          <p:cNvPr id="547" name="">
            <a:extLst xmlns:a="http://schemas.openxmlformats.org/drawingml/2006/main">
              <a:ext uri="{FF2B5EF4-FFF2-40B4-BE49-F238E27FC236}">
                <a16:creationId xmlns:a16="http://schemas.microsoft.com/office/drawing/2014/main" id="{44C206BE-ACB8-4680-9534-3D497A02F3BB}"/>
              </a:ext>
            </a:extLst>
          </p:cNvPr>
          <p:cNvSpPr>
            <a:spLocks xmlns:a="http://schemas.openxmlformats.org/drawingml/2006/main" noGrp="1"/>
          </p:cNvSpPr>
          <p:nvPr/>
        </p:nvSpPr>
        <p:spPr>
          <a:xfrm xmlns:a="http://schemas.openxmlformats.org/drawingml/2006/main">
            <a:off x="400050" y="5810250"/>
            <a:ext cx="1123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Only 540,672 parameters train, about 0.109% of the model with adapters.</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FD6AB9A-5F9E-5F59-51AB-3C8734130965}" type="slidenum">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IVON learns an adapter distribution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534" name="">
            <a:extLst xmlns:a="http://schemas.openxmlformats.org/drawingml/2006/main">
              <a:ext uri="{FF2B5EF4-FFF2-40B4-BE49-F238E27FC236}">
                <a16:creationId xmlns:a16="http://schemas.microsoft.com/office/drawing/2014/main" id="{CA3429B7-F032-463A-930D-0EF6EBABF9BB}"/>
              </a:ext>
            </a:extLst>
          </p:cNvPr>
          <p:cNvSpPr>
            <a:spLocks xmlns:a="http://schemas.openxmlformats.org/drawingml/2006/main" noGrp="1"/>
          </p:cNvSpPr>
          <p:nvPr/>
        </p:nvSpPr>
        <p:spPr>
          <a:xfrm xmlns:a="http://schemas.openxmlformats.org/drawingml/2006/main">
            <a:off x="400050" y="166687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6DCBF4"/>
                </a:solidFill>
                <a:latin typeface="Helvetica Neue"/>
                <a:ea typeface="Helvetica Neue"/>
                <a:cs typeface="Helvetica Neue"/>
              </a:defRPr>
            </a:pPr>
            <a:r>
              <a:rPr sz="2550" b="1">
                <a:solidFill>
                  <a:srgbClr val="6DCBF4"/>
                </a:solidFill>
                <a:latin typeface="Helvetica Neue"/>
                <a:ea typeface="Helvetica Neue"/>
                <a:cs typeface="Helvetica Neue"/>
              </a:rPr>
              <a:t>q(θ) = N(m, diag(v))</a:t>
            </a:r>
          </a:p>
        </p:txBody>
      </p:sp>
      <p:sp>
        <p:nvSpPr>
          <p:cNvPr id="535" name="">
            <a:extLst xmlns:a="http://schemas.openxmlformats.org/drawingml/2006/main">
              <a:ext uri="{FF2B5EF4-FFF2-40B4-BE49-F238E27FC236}">
                <a16:creationId xmlns:a16="http://schemas.microsoft.com/office/drawing/2014/main" id="{BD501641-3BB8-489C-98FE-F96743D0DA62}"/>
              </a:ext>
            </a:extLst>
          </p:cNvPr>
          <p:cNvSpPr>
            <a:spLocks xmlns:a="http://schemas.openxmlformats.org/drawingml/2006/main" noGrp="1"/>
          </p:cNvSpPr>
          <p:nvPr/>
        </p:nvSpPr>
        <p:spPr>
          <a:xfrm xmlns:a="http://schemas.openxmlformats.org/drawingml/2006/main">
            <a:off x="400050" y="3000375"/>
            <a:ext cx="2381250" cy="109537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Sample adapter θ</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from q</a:t>
            </a:r>
          </a:p>
        </p:txBody>
      </p:sp>
      <p:sp>
        <p:nvSpPr>
          <p:cNvPr id="536" name="">
            <a:extLst xmlns:a="http://schemas.openxmlformats.org/drawingml/2006/main">
              <a:ext uri="{FF2B5EF4-FFF2-40B4-BE49-F238E27FC236}">
                <a16:creationId xmlns:a16="http://schemas.microsoft.com/office/drawing/2014/main" id="{73E062C5-96F8-4763-85B7-57DD6AF02D8A}"/>
              </a:ext>
            </a:extLst>
          </p:cNvPr>
          <p:cNvSpPr>
            <a:spLocks xmlns:a="http://schemas.openxmlformats.org/drawingml/2006/main" noGrp="1"/>
          </p:cNvSpPr>
          <p:nvPr/>
        </p:nvSpPr>
        <p:spPr>
          <a:xfrm xmlns:a="http://schemas.openxmlformats.org/drawingml/2006/main">
            <a:off x="3400425" y="3000375"/>
            <a:ext cx="2381250" cy="109537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Compute loss</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and gradients</a:t>
            </a:r>
          </a:p>
        </p:txBody>
      </p:sp>
      <p:sp>
        <p:nvSpPr>
          <p:cNvPr id="537" name="">
            <a:extLst xmlns:a="http://schemas.openxmlformats.org/drawingml/2006/main">
              <a:ext uri="{FF2B5EF4-FFF2-40B4-BE49-F238E27FC236}">
                <a16:creationId xmlns:a16="http://schemas.microsoft.com/office/drawing/2014/main" id="{6BA25C0C-EB62-46D0-9042-E7E8FC83C2DA}"/>
              </a:ext>
            </a:extLst>
          </p:cNvPr>
          <p:cNvSpPr>
            <a:spLocks xmlns:a="http://schemas.openxmlformats.org/drawingml/2006/main" noGrp="1"/>
          </p:cNvSpPr>
          <p:nvPr/>
        </p:nvSpPr>
        <p:spPr>
          <a:xfrm xmlns:a="http://schemas.openxmlformats.org/drawingml/2006/main">
            <a:off x="6400800" y="3000375"/>
            <a:ext cx="2381250" cy="109537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Update mean m</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and scale h</a:t>
            </a:r>
          </a:p>
        </p:txBody>
      </p:sp>
      <p:sp>
        <p:nvSpPr>
          <p:cNvPr id="538" name="">
            <a:extLst xmlns:a="http://schemas.openxmlformats.org/drawingml/2006/main">
              <a:ext uri="{FF2B5EF4-FFF2-40B4-BE49-F238E27FC236}">
                <a16:creationId xmlns:a16="http://schemas.microsoft.com/office/drawing/2014/main" id="{2DE009D6-E008-4A0A-A603-174A3E689342}"/>
              </a:ext>
            </a:extLst>
          </p:cNvPr>
          <p:cNvSpPr>
            <a:spLocks xmlns:a="http://schemas.openxmlformats.org/drawingml/2006/main" noGrp="1"/>
          </p:cNvSpPr>
          <p:nvPr/>
        </p:nvSpPr>
        <p:spPr>
          <a:xfrm xmlns:a="http://schemas.openxmlformats.org/drawingml/2006/main">
            <a:off x="9401175" y="3000375"/>
            <a:ext cx="2381250" cy="109537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Estimate</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variance v</a:t>
            </a:r>
          </a:p>
        </p:txBody>
      </p:sp>
      <p:cxnSp>
        <p:nvCxnSpPr>
          <p:cNvPr id="556" name=""/>
          <p:cNvCxnSpPr>
            <a:stCxn xmlns:a="http://schemas.openxmlformats.org/drawingml/2006/main" id="535" idx="3"/>
            <a:endCxn xmlns:a="http://schemas.openxmlformats.org/drawingml/2006/main" id="536" idx="1"/>
          </p:cNvCxnSpPr>
          <p:nvPr/>
        </p:nvCxnSpPr>
        <p:spPr>
          <a:xfrm xmlns:a="http://schemas.openxmlformats.org/drawingml/2006/main">
            <a:off x="2781300" y="3548063"/>
            <a:ext cx="619125" cy="0"/>
          </a:xfrm>
          <a:prstGeom xmlns:a="http://schemas.openxmlformats.org/drawingml/2006/main" prst="straightConnector1">
            <a:avLst/>
          </a:prstGeom>
          <a:ln xmlns:a="http://schemas.openxmlformats.org/drawingml/2006/main" w="19050">
            <a:solidFill>
              <a:srgbClr val="6DCBF4"/>
            </a:solidFill>
            <a:tailEnd type="arrow" w="med" len="med"/>
          </a:ln>
        </p:spPr>
      </p:cxnSp>
      <p:cxnSp>
        <p:nvCxnSpPr>
          <p:cNvPr id="557" name=""/>
          <p:cNvCxnSpPr>
            <a:stCxn xmlns:a="http://schemas.openxmlformats.org/drawingml/2006/main" id="536" idx="3"/>
            <a:endCxn xmlns:a="http://schemas.openxmlformats.org/drawingml/2006/main" id="537" idx="1"/>
          </p:cNvCxnSpPr>
          <p:nvPr/>
        </p:nvCxnSpPr>
        <p:spPr>
          <a:xfrm xmlns:a="http://schemas.openxmlformats.org/drawingml/2006/main">
            <a:off x="5781675" y="3548063"/>
            <a:ext cx="619125" cy="0"/>
          </a:xfrm>
          <a:prstGeom xmlns:a="http://schemas.openxmlformats.org/drawingml/2006/main" prst="straightConnector1">
            <a:avLst/>
          </a:prstGeom>
          <a:ln xmlns:a="http://schemas.openxmlformats.org/drawingml/2006/main" w="19050">
            <a:solidFill>
              <a:srgbClr val="6DCBF4"/>
            </a:solidFill>
            <a:tailEnd type="arrow" w="med" len="med"/>
          </a:ln>
        </p:spPr>
      </p:cxnSp>
      <p:cxnSp>
        <p:nvCxnSpPr>
          <p:cNvPr id="558" name=""/>
          <p:cNvCxnSpPr>
            <a:stCxn xmlns:a="http://schemas.openxmlformats.org/drawingml/2006/main" id="537" idx="3"/>
            <a:endCxn xmlns:a="http://schemas.openxmlformats.org/drawingml/2006/main" id="538" idx="1"/>
          </p:cNvCxnSpPr>
          <p:nvPr/>
        </p:nvCxnSpPr>
        <p:spPr>
          <a:xfrm xmlns:a="http://schemas.openxmlformats.org/drawingml/2006/main">
            <a:off x="8782050" y="3548063"/>
            <a:ext cx="619125" cy="0"/>
          </a:xfrm>
          <a:prstGeom xmlns:a="http://schemas.openxmlformats.org/drawingml/2006/main" prst="straightConnector1">
            <a:avLst/>
          </a:prstGeom>
          <a:ln xmlns:a="http://schemas.openxmlformats.org/drawingml/2006/main" w="19050">
            <a:solidFill>
              <a:srgbClr val="6DCBF4"/>
            </a:solidFill>
            <a:tailEnd type="arrow" w="med" len="med"/>
          </a:ln>
        </p:spPr>
      </p:cxnSp>
      <p:sp>
        <p:nvSpPr>
          <p:cNvPr id="542" name="">
            <a:extLst xmlns:a="http://schemas.openxmlformats.org/drawingml/2006/main">
              <a:ext uri="{FF2B5EF4-FFF2-40B4-BE49-F238E27FC236}">
                <a16:creationId xmlns:a16="http://schemas.microsoft.com/office/drawing/2014/main" id="{AA063A52-39D4-44B6-B958-E39F541FB571}"/>
              </a:ext>
            </a:extLst>
          </p:cNvPr>
          <p:cNvSpPr>
            <a:spLocks xmlns:a="http://schemas.openxmlformats.org/drawingml/2006/main" noGrp="1"/>
          </p:cNvSpPr>
          <p:nvPr/>
        </p:nvSpPr>
        <p:spPr>
          <a:xfrm xmlns:a="http://schemas.openxmlformats.org/drawingml/2006/main">
            <a:off x="400050" y="47148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6DCBF4"/>
                </a:solidFill>
                <a:latin typeface="Helvetica Neue"/>
                <a:ea typeface="Helvetica Neue"/>
                <a:cs typeface="Helvetica Neue"/>
              </a:defRPr>
            </a:pPr>
            <a:r>
              <a:rPr sz="2025" b="1">
                <a:solidFill>
                  <a:srgbClr val="6DCBF4"/>
                </a:solidFill>
                <a:latin typeface="Helvetica Neue"/>
                <a:ea typeface="Helvetica Neue"/>
                <a:cs typeface="Helvetica Neue"/>
              </a:rPr>
              <a:t>Variational objective</a:t>
            </a:r>
          </a:p>
        </p:txBody>
      </p:sp>
      <p:sp>
        <p:nvSpPr>
          <p:cNvPr id="543" name="">
            <a:extLst xmlns:a="http://schemas.openxmlformats.org/drawingml/2006/main">
              <a:ext uri="{FF2B5EF4-FFF2-40B4-BE49-F238E27FC236}">
                <a16:creationId xmlns:a16="http://schemas.microsoft.com/office/drawing/2014/main" id="{E498DCFC-4904-418B-81E5-85F54630ACF6}"/>
              </a:ext>
            </a:extLst>
          </p:cNvPr>
          <p:cNvSpPr>
            <a:spLocks xmlns:a="http://schemas.openxmlformats.org/drawingml/2006/main" noGrp="1"/>
          </p:cNvSpPr>
          <p:nvPr/>
        </p:nvSpPr>
        <p:spPr>
          <a:xfrm xmlns:a="http://schemas.openxmlformats.org/drawingml/2006/main">
            <a:off x="400050" y="5191125"/>
            <a:ext cx="542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E_q[loss(θ)] + KL(q || p) / ESS</a:t>
            </a:r>
          </a:p>
        </p:txBody>
      </p:sp>
      <p:sp>
        <p:nvSpPr>
          <p:cNvPr id="544" name="">
            <a:extLst xmlns:a="http://schemas.openxmlformats.org/drawingml/2006/main">
              <a:ext uri="{FF2B5EF4-FFF2-40B4-BE49-F238E27FC236}">
                <a16:creationId xmlns:a16="http://schemas.microsoft.com/office/drawing/2014/main" id="{0B5D3526-B7A3-411B-B048-FBD36C8CD024}"/>
              </a:ext>
            </a:extLst>
          </p:cNvPr>
          <p:cNvSpPr>
            <a:spLocks xmlns:a="http://schemas.openxmlformats.org/drawingml/2006/main" noGrp="1"/>
          </p:cNvSpPr>
          <p:nvPr/>
        </p:nvSpPr>
        <p:spPr>
          <a:xfrm xmlns:a="http://schemas.openxmlformats.org/drawingml/2006/main">
            <a:off x="6667500" y="47148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6DCBF4"/>
                </a:solidFill>
                <a:latin typeface="Helvetica Neue"/>
                <a:ea typeface="Helvetica Neue"/>
                <a:cs typeface="Helvetica Neue"/>
              </a:defRPr>
            </a:pPr>
            <a:r>
              <a:rPr sz="2025" b="1">
                <a:solidFill>
                  <a:srgbClr val="6DCBF4"/>
                </a:solidFill>
                <a:latin typeface="Helvetica Neue"/>
                <a:ea typeface="Helvetica Neue"/>
                <a:cs typeface="Helvetica Neue"/>
              </a:rPr>
              <a:t>Per-parameter variance</a:t>
            </a:r>
          </a:p>
        </p:txBody>
      </p:sp>
      <p:sp>
        <p:nvSpPr>
          <p:cNvPr id="545" name="">
            <a:extLst xmlns:a="http://schemas.openxmlformats.org/drawingml/2006/main">
              <a:ext uri="{FF2B5EF4-FFF2-40B4-BE49-F238E27FC236}">
                <a16:creationId xmlns:a16="http://schemas.microsoft.com/office/drawing/2014/main" id="{FAE7749C-995A-4112-8DA7-482395DDE9C6}"/>
              </a:ext>
            </a:extLst>
          </p:cNvPr>
          <p:cNvSpPr>
            <a:spLocks xmlns:a="http://schemas.openxmlformats.org/drawingml/2006/main" noGrp="1"/>
          </p:cNvSpPr>
          <p:nvPr/>
        </p:nvSpPr>
        <p:spPr>
          <a:xfrm xmlns:a="http://schemas.openxmlformats.org/drawingml/2006/main">
            <a:off x="6667500" y="519112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vᵢ = 1 / [ESS × (hᵢ + decay)]</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Three ways to predict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534" name="">
            <a:extLst xmlns:a="http://schemas.openxmlformats.org/drawingml/2006/main">
              <a:ext uri="{FF2B5EF4-FFF2-40B4-BE49-F238E27FC236}">
                <a16:creationId xmlns:a16="http://schemas.microsoft.com/office/drawing/2014/main" id="{5F529D77-94CD-4055-81B5-9D6BA11219B2}"/>
              </a:ext>
            </a:extLst>
          </p:cNvPr>
          <p:cNvSpPr>
            <a:spLocks xmlns:a="http://schemas.openxmlformats.org/drawingml/2006/main" noGrp="1"/>
          </p:cNvSpPr>
          <p:nvPr/>
        </p:nvSpPr>
        <p:spPr>
          <a:xfrm xmlns:a="http://schemas.openxmlformats.org/drawingml/2006/main">
            <a:off x="400050" y="2047875"/>
            <a:ext cx="2619375" cy="8096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AdamW</a:t>
            </a:r>
          </a:p>
        </p:txBody>
      </p:sp>
      <p:sp>
        <p:nvSpPr>
          <p:cNvPr id="535" name="">
            <a:extLst xmlns:a="http://schemas.openxmlformats.org/drawingml/2006/main">
              <a:ext uri="{FF2B5EF4-FFF2-40B4-BE49-F238E27FC236}">
                <a16:creationId xmlns:a16="http://schemas.microsoft.com/office/drawing/2014/main" id="{4179D9AB-780B-45B9-922A-10152543FDD2}"/>
              </a:ext>
            </a:extLst>
          </p:cNvPr>
          <p:cNvSpPr>
            <a:spLocks xmlns:a="http://schemas.openxmlformats.org/drawingml/2006/main" noGrp="1"/>
          </p:cNvSpPr>
          <p:nvPr/>
        </p:nvSpPr>
        <p:spPr>
          <a:xfrm xmlns:a="http://schemas.openxmlformats.org/drawingml/2006/main">
            <a:off x="3714750" y="2047875"/>
            <a:ext cx="3143250" cy="8096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Trained adapter</a:t>
            </a:r>
          </a:p>
        </p:txBody>
      </p:sp>
      <p:sp>
        <p:nvSpPr>
          <p:cNvPr id="536" name="">
            <a:extLst xmlns:a="http://schemas.openxmlformats.org/drawingml/2006/main">
              <a:ext uri="{FF2B5EF4-FFF2-40B4-BE49-F238E27FC236}">
                <a16:creationId xmlns:a16="http://schemas.microsoft.com/office/drawing/2014/main" id="{5B1363D5-6A74-49AC-9DB5-6C9F25E6E154}"/>
              </a:ext>
            </a:extLst>
          </p:cNvPr>
          <p:cNvSpPr>
            <a:spLocks xmlns:a="http://schemas.openxmlformats.org/drawingml/2006/main" noGrp="1"/>
          </p:cNvSpPr>
          <p:nvPr/>
        </p:nvSpPr>
        <p:spPr>
          <a:xfrm xmlns:a="http://schemas.openxmlformats.org/drawingml/2006/main">
            <a:off x="7572375" y="2047875"/>
            <a:ext cx="4210050" cy="8096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One probability vector</a:t>
            </a:r>
          </a:p>
        </p:txBody>
      </p:sp>
      <p:cxnSp>
        <p:nvCxnSpPr>
          <p:cNvPr id="558" name=""/>
          <p:cNvCxnSpPr>
            <a:stCxn xmlns:a="http://schemas.openxmlformats.org/drawingml/2006/main" id="534" idx="3"/>
            <a:endCxn xmlns:a="http://schemas.openxmlformats.org/drawingml/2006/main" id="535" idx="1"/>
          </p:cNvCxnSpPr>
          <p:nvPr/>
        </p:nvCxnSpPr>
        <p:spPr>
          <a:xfrm xmlns:a="http://schemas.openxmlformats.org/drawingml/2006/main">
            <a:off x="3019425" y="2452688"/>
            <a:ext cx="695325" cy="0"/>
          </a:xfrm>
          <a:prstGeom xmlns:a="http://schemas.openxmlformats.org/drawingml/2006/main" prst="straightConnector1">
            <a:avLst/>
          </a:prstGeom>
          <a:ln xmlns:a="http://schemas.openxmlformats.org/drawingml/2006/main" w="19050">
            <a:solidFill>
              <a:srgbClr val="6DCBF4"/>
            </a:solidFill>
            <a:tailEnd type="arrow" w="med" len="med"/>
          </a:ln>
        </p:spPr>
      </p:cxnSp>
      <p:cxnSp>
        <p:nvCxnSpPr>
          <p:cNvPr id="559" name=""/>
          <p:cNvCxnSpPr>
            <a:stCxn xmlns:a="http://schemas.openxmlformats.org/drawingml/2006/main" id="535" idx="3"/>
            <a:endCxn xmlns:a="http://schemas.openxmlformats.org/drawingml/2006/main" id="536" idx="1"/>
          </p:cNvCxnSpPr>
          <p:nvPr/>
        </p:nvCxnSpPr>
        <p:spPr>
          <a:xfrm xmlns:a="http://schemas.openxmlformats.org/drawingml/2006/main">
            <a:off x="6858000" y="2452688"/>
            <a:ext cx="714375" cy="0"/>
          </a:xfrm>
          <a:prstGeom xmlns:a="http://schemas.openxmlformats.org/drawingml/2006/main" prst="straightConnector1">
            <a:avLst/>
          </a:prstGeom>
          <a:ln xmlns:a="http://schemas.openxmlformats.org/drawingml/2006/main" w="19050">
            <a:solidFill>
              <a:srgbClr val="6DCBF4"/>
            </a:solidFill>
            <a:tailEnd type="arrow" w="med" len="med"/>
          </a:ln>
        </p:spPr>
      </p:cxnSp>
      <p:sp>
        <p:nvSpPr>
          <p:cNvPr id="539" name="">
            <a:extLst xmlns:a="http://schemas.openxmlformats.org/drawingml/2006/main">
              <a:ext uri="{FF2B5EF4-FFF2-40B4-BE49-F238E27FC236}">
                <a16:creationId xmlns:a16="http://schemas.microsoft.com/office/drawing/2014/main" id="{5B8AC006-D6C6-496B-9A65-E83F7B6D98B5}"/>
              </a:ext>
            </a:extLst>
          </p:cNvPr>
          <p:cNvSpPr>
            <a:spLocks xmlns:a="http://schemas.openxmlformats.org/drawingml/2006/main" noGrp="1"/>
          </p:cNvSpPr>
          <p:nvPr/>
        </p:nvSpPr>
        <p:spPr>
          <a:xfrm xmlns:a="http://schemas.openxmlformats.org/drawingml/2006/main">
            <a:off x="400050" y="3286125"/>
            <a:ext cx="2619375" cy="809625"/>
          </a:xfrm>
          <a:prstGeom xmlns:a="http://schemas.openxmlformats.org/drawingml/2006/main" prst="rect">
            <a:avLst/>
          </a:prstGeom>
          <a:solidFill xmlns:a="http://schemas.openxmlformats.org/drawingml/2006/main">
            <a:srgbClr val="101010"/>
          </a:solidFill>
          <a:ln xmlns:a="http://schemas.openxmlformats.org/drawingml/2006/main" w="19050">
            <a:solidFill>
              <a:srgbClr val="F3AF68"/>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IVON mean</a:t>
            </a:r>
          </a:p>
        </p:txBody>
      </p:sp>
      <p:sp>
        <p:nvSpPr>
          <p:cNvPr id="540" name="">
            <a:extLst xmlns:a="http://schemas.openxmlformats.org/drawingml/2006/main">
              <a:ext uri="{FF2B5EF4-FFF2-40B4-BE49-F238E27FC236}">
                <a16:creationId xmlns:a16="http://schemas.microsoft.com/office/drawing/2014/main" id="{0A18857A-6684-465A-9232-FA636444A11F}"/>
              </a:ext>
            </a:extLst>
          </p:cNvPr>
          <p:cNvSpPr>
            <a:spLocks xmlns:a="http://schemas.openxmlformats.org/drawingml/2006/main" noGrp="1"/>
          </p:cNvSpPr>
          <p:nvPr/>
        </p:nvSpPr>
        <p:spPr>
          <a:xfrm xmlns:a="http://schemas.openxmlformats.org/drawingml/2006/main">
            <a:off x="3714750" y="3286125"/>
            <a:ext cx="3143250" cy="809625"/>
          </a:xfrm>
          <a:prstGeom xmlns:a="http://schemas.openxmlformats.org/drawingml/2006/main" prst="rect">
            <a:avLst/>
          </a:prstGeom>
          <a:solidFill xmlns:a="http://schemas.openxmlformats.org/drawingml/2006/main">
            <a:srgbClr val="101010"/>
          </a:solidFill>
          <a:ln xmlns:a="http://schemas.openxmlformats.org/drawingml/2006/main" w="19050">
            <a:solidFill>
              <a:srgbClr val="F3AF68"/>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Learned mean m</a:t>
            </a:r>
          </a:p>
        </p:txBody>
      </p:sp>
      <p:sp>
        <p:nvSpPr>
          <p:cNvPr id="541" name="">
            <a:extLst xmlns:a="http://schemas.openxmlformats.org/drawingml/2006/main">
              <a:ext uri="{FF2B5EF4-FFF2-40B4-BE49-F238E27FC236}">
                <a16:creationId xmlns:a16="http://schemas.microsoft.com/office/drawing/2014/main" id="{1C4756EF-6469-4B96-89B7-A4AB3F01B8A8}"/>
              </a:ext>
            </a:extLst>
          </p:cNvPr>
          <p:cNvSpPr>
            <a:spLocks xmlns:a="http://schemas.openxmlformats.org/drawingml/2006/main" noGrp="1"/>
          </p:cNvSpPr>
          <p:nvPr/>
        </p:nvSpPr>
        <p:spPr>
          <a:xfrm xmlns:a="http://schemas.openxmlformats.org/drawingml/2006/main">
            <a:off x="7572375" y="3286125"/>
            <a:ext cx="4210050" cy="809625"/>
          </a:xfrm>
          <a:prstGeom xmlns:a="http://schemas.openxmlformats.org/drawingml/2006/main" prst="rect">
            <a:avLst/>
          </a:prstGeom>
          <a:solidFill xmlns:a="http://schemas.openxmlformats.org/drawingml/2006/main">
            <a:srgbClr val="101010"/>
          </a:solidFill>
          <a:ln xmlns:a="http://schemas.openxmlformats.org/drawingml/2006/main" w="19050">
            <a:solidFill>
              <a:srgbClr val="F3AF68"/>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One probability vector</a:t>
            </a:r>
          </a:p>
        </p:txBody>
      </p:sp>
      <p:cxnSp>
        <p:nvCxnSpPr>
          <p:cNvPr id="563" name=""/>
          <p:cNvCxnSpPr>
            <a:stCxn xmlns:a="http://schemas.openxmlformats.org/drawingml/2006/main" id="539" idx="3"/>
            <a:endCxn xmlns:a="http://schemas.openxmlformats.org/drawingml/2006/main" id="540" idx="1"/>
          </p:cNvCxnSpPr>
          <p:nvPr/>
        </p:nvCxnSpPr>
        <p:spPr>
          <a:xfrm xmlns:a="http://schemas.openxmlformats.org/drawingml/2006/main">
            <a:off x="3019425" y="3690938"/>
            <a:ext cx="695325" cy="0"/>
          </a:xfrm>
          <a:prstGeom xmlns:a="http://schemas.openxmlformats.org/drawingml/2006/main" prst="straightConnector1">
            <a:avLst/>
          </a:prstGeom>
          <a:ln xmlns:a="http://schemas.openxmlformats.org/drawingml/2006/main" w="19050">
            <a:solidFill>
              <a:srgbClr val="6DCBF4"/>
            </a:solidFill>
            <a:tailEnd type="arrow" w="med" len="med"/>
          </a:ln>
        </p:spPr>
      </p:cxnSp>
      <p:cxnSp>
        <p:nvCxnSpPr>
          <p:cNvPr id="564" name=""/>
          <p:cNvCxnSpPr>
            <a:stCxn xmlns:a="http://schemas.openxmlformats.org/drawingml/2006/main" id="540" idx="3"/>
            <a:endCxn xmlns:a="http://schemas.openxmlformats.org/drawingml/2006/main" id="541" idx="1"/>
          </p:cNvCxnSpPr>
          <p:nvPr/>
        </p:nvCxnSpPr>
        <p:spPr>
          <a:xfrm xmlns:a="http://schemas.openxmlformats.org/drawingml/2006/main">
            <a:off x="6858000" y="3690938"/>
            <a:ext cx="714375" cy="0"/>
          </a:xfrm>
          <a:prstGeom xmlns:a="http://schemas.openxmlformats.org/drawingml/2006/main" prst="straightConnector1">
            <a:avLst/>
          </a:prstGeom>
          <a:ln xmlns:a="http://schemas.openxmlformats.org/drawingml/2006/main" w="19050">
            <a:solidFill>
              <a:srgbClr val="6DCBF4"/>
            </a:solidFill>
            <a:tailEnd type="arrow" w="med" len="med"/>
          </a:ln>
        </p:spPr>
      </p:cxnSp>
      <p:sp>
        <p:nvSpPr>
          <p:cNvPr id="544" name="">
            <a:extLst xmlns:a="http://schemas.openxmlformats.org/drawingml/2006/main">
              <a:ext uri="{FF2B5EF4-FFF2-40B4-BE49-F238E27FC236}">
                <a16:creationId xmlns:a16="http://schemas.microsoft.com/office/drawing/2014/main" id="{2708DC95-1D74-4157-93F9-262E8B4551AC}"/>
              </a:ext>
            </a:extLst>
          </p:cNvPr>
          <p:cNvSpPr>
            <a:spLocks xmlns:a="http://schemas.openxmlformats.org/drawingml/2006/main" noGrp="1"/>
          </p:cNvSpPr>
          <p:nvPr/>
        </p:nvSpPr>
        <p:spPr>
          <a:xfrm xmlns:a="http://schemas.openxmlformats.org/drawingml/2006/main">
            <a:off x="400050" y="4524375"/>
            <a:ext cx="2619375" cy="809625"/>
          </a:xfrm>
          <a:prstGeom xmlns:a="http://schemas.openxmlformats.org/drawingml/2006/main" prst="rect">
            <a:avLst/>
          </a:prstGeom>
          <a:solidFill xmlns:a="http://schemas.openxmlformats.org/drawingml/2006/main">
            <a:srgbClr val="101010"/>
          </a:solidFill>
          <a:ln xmlns:a="http://schemas.openxmlformats.org/drawingml/2006/main" w="19050">
            <a:solidFill>
              <a:srgbClr val="BC9DF5"/>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IVON 10 draws</a:t>
            </a:r>
          </a:p>
        </p:txBody>
      </p:sp>
      <p:sp>
        <p:nvSpPr>
          <p:cNvPr id="545" name="">
            <a:extLst xmlns:a="http://schemas.openxmlformats.org/drawingml/2006/main">
              <a:ext uri="{FF2B5EF4-FFF2-40B4-BE49-F238E27FC236}">
                <a16:creationId xmlns:a16="http://schemas.microsoft.com/office/drawing/2014/main" id="{38C5D18D-0154-4F5B-A76B-781FEE30E79D}"/>
              </a:ext>
            </a:extLst>
          </p:cNvPr>
          <p:cNvSpPr>
            <a:spLocks xmlns:a="http://schemas.openxmlformats.org/drawingml/2006/main" noGrp="1"/>
          </p:cNvSpPr>
          <p:nvPr/>
        </p:nvSpPr>
        <p:spPr>
          <a:xfrm xmlns:a="http://schemas.openxmlformats.org/drawingml/2006/main">
            <a:off x="3714750" y="4524375"/>
            <a:ext cx="3143250" cy="809625"/>
          </a:xfrm>
          <a:prstGeom xmlns:a="http://schemas.openxmlformats.org/drawingml/2006/main" prst="rect">
            <a:avLst/>
          </a:prstGeom>
          <a:solidFill xmlns:a="http://schemas.openxmlformats.org/drawingml/2006/main">
            <a:srgbClr val="101010"/>
          </a:solidFill>
          <a:ln xmlns:a="http://schemas.openxmlformats.org/drawingml/2006/main" w="19050">
            <a:solidFill>
              <a:srgbClr val="BC9DF5"/>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10 draws from q</a:t>
            </a:r>
          </a:p>
        </p:txBody>
      </p:sp>
      <p:sp>
        <p:nvSpPr>
          <p:cNvPr id="546" name="">
            <a:extLst xmlns:a="http://schemas.openxmlformats.org/drawingml/2006/main">
              <a:ext uri="{FF2B5EF4-FFF2-40B4-BE49-F238E27FC236}">
                <a16:creationId xmlns:a16="http://schemas.microsoft.com/office/drawing/2014/main" id="{E431AB56-0FD3-41BF-B5CB-F0CD8C05C8EF}"/>
              </a:ext>
            </a:extLst>
          </p:cNvPr>
          <p:cNvSpPr>
            <a:spLocks xmlns:a="http://schemas.openxmlformats.org/drawingml/2006/main" noGrp="1"/>
          </p:cNvSpPr>
          <p:nvPr/>
        </p:nvSpPr>
        <p:spPr>
          <a:xfrm xmlns:a="http://schemas.openxmlformats.org/drawingml/2006/main">
            <a:off x="7572375" y="4524375"/>
            <a:ext cx="4210050" cy="809625"/>
          </a:xfrm>
          <a:prstGeom xmlns:a="http://schemas.openxmlformats.org/drawingml/2006/main" prst="rect">
            <a:avLst/>
          </a:prstGeom>
          <a:solidFill xmlns:a="http://schemas.openxmlformats.org/drawingml/2006/main">
            <a:srgbClr val="101010"/>
          </a:solidFill>
          <a:ln xmlns:a="http://schemas.openxmlformats.org/drawingml/2006/main" w="19050">
            <a:solidFill>
              <a:srgbClr val="BC9DF5"/>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Average 10 probability vectors</a:t>
            </a:r>
          </a:p>
        </p:txBody>
      </p:sp>
      <p:cxnSp>
        <p:nvCxnSpPr>
          <p:cNvPr id="568" name=""/>
          <p:cNvCxnSpPr>
            <a:stCxn xmlns:a="http://schemas.openxmlformats.org/drawingml/2006/main" id="544" idx="3"/>
            <a:endCxn xmlns:a="http://schemas.openxmlformats.org/drawingml/2006/main" id="545" idx="1"/>
          </p:cNvCxnSpPr>
          <p:nvPr/>
        </p:nvCxnSpPr>
        <p:spPr>
          <a:xfrm xmlns:a="http://schemas.openxmlformats.org/drawingml/2006/main">
            <a:off x="3019425" y="4929188"/>
            <a:ext cx="695325" cy="0"/>
          </a:xfrm>
          <a:prstGeom xmlns:a="http://schemas.openxmlformats.org/drawingml/2006/main" prst="straightConnector1">
            <a:avLst/>
          </a:prstGeom>
          <a:ln xmlns:a="http://schemas.openxmlformats.org/drawingml/2006/main" w="19050">
            <a:solidFill>
              <a:srgbClr val="6DCBF4"/>
            </a:solidFill>
            <a:tailEnd type="arrow" w="med" len="med"/>
          </a:ln>
        </p:spPr>
      </p:cxnSp>
      <p:cxnSp>
        <p:nvCxnSpPr>
          <p:cNvPr id="569" name=""/>
          <p:cNvCxnSpPr>
            <a:stCxn xmlns:a="http://schemas.openxmlformats.org/drawingml/2006/main" id="545" idx="3"/>
            <a:endCxn xmlns:a="http://schemas.openxmlformats.org/drawingml/2006/main" id="546" idx="1"/>
          </p:cNvCxnSpPr>
          <p:nvPr/>
        </p:nvCxnSpPr>
        <p:spPr>
          <a:xfrm xmlns:a="http://schemas.openxmlformats.org/drawingml/2006/main">
            <a:off x="6858000" y="4929188"/>
            <a:ext cx="714375" cy="0"/>
          </a:xfrm>
          <a:prstGeom xmlns:a="http://schemas.openxmlformats.org/drawingml/2006/main" prst="straightConnector1">
            <a:avLst/>
          </a:prstGeom>
          <a:ln xmlns:a="http://schemas.openxmlformats.org/drawingml/2006/main" w="19050">
            <a:solidFill>
              <a:srgbClr val="6DCBF4"/>
            </a:solidFill>
            <a:tailEnd type="arrow" w="med" len="med"/>
          </a:ln>
        </p:spPr>
      </p:cxnSp>
      <p:sp>
        <p:nvSpPr>
          <p:cNvPr id="549" name="">
            <a:extLst xmlns:a="http://schemas.openxmlformats.org/drawingml/2006/main">
              <a:ext uri="{FF2B5EF4-FFF2-40B4-BE49-F238E27FC236}">
                <a16:creationId xmlns:a16="http://schemas.microsoft.com/office/drawing/2014/main" id="{5A7F20AA-4FF4-4206-913A-3AE921551EE6}"/>
              </a:ext>
            </a:extLst>
          </p:cNvPr>
          <p:cNvSpPr>
            <a:spLocks xmlns:a="http://schemas.openxmlformats.org/drawingml/2006/main" noGrp="1"/>
          </p:cNvSpPr>
          <p:nvPr/>
        </p:nvSpPr>
        <p:spPr>
          <a:xfrm xmlns:a="http://schemas.openxmlformats.org/drawingml/2006/main">
            <a:off x="400050" y="5953125"/>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IVON mean isolates the effect of training. Sampling adds test-time averaging and cost.</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Paired experiment protocol</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534" name="">
            <a:extLst xmlns:a="http://schemas.openxmlformats.org/drawingml/2006/main">
              <a:ext uri="{FF2B5EF4-FFF2-40B4-BE49-F238E27FC236}">
                <a16:creationId xmlns:a16="http://schemas.microsoft.com/office/drawing/2014/main" id="{2F0C2822-7407-4429-9CE3-26E699EFF595}"/>
              </a:ext>
            </a:extLst>
          </p:cNvPr>
          <p:cNvSpPr>
            <a:spLocks xmlns:a="http://schemas.openxmlformats.org/drawingml/2006/main" noGrp="1"/>
          </p:cNvSpPr>
          <p:nvPr/>
        </p:nvSpPr>
        <p:spPr>
          <a:xfrm xmlns:a="http://schemas.openxmlformats.org/drawingml/2006/main">
            <a:off x="400050" y="2095500"/>
            <a:ext cx="2857500" cy="10001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ARC-Easy</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fixed data seed 2026</a:t>
            </a:r>
          </a:p>
        </p:txBody>
      </p:sp>
      <p:sp>
        <p:nvSpPr>
          <p:cNvPr id="535" name="">
            <a:extLst xmlns:a="http://schemas.openxmlformats.org/drawingml/2006/main">
              <a:ext uri="{FF2B5EF4-FFF2-40B4-BE49-F238E27FC236}">
                <a16:creationId xmlns:a16="http://schemas.microsoft.com/office/drawing/2014/main" id="{F497C403-A87F-40CA-BF01-E02AD7E310FB}"/>
              </a:ext>
            </a:extLst>
          </p:cNvPr>
          <p:cNvSpPr>
            <a:spLocks xmlns:a="http://schemas.openxmlformats.org/drawingml/2006/main" noGrp="1"/>
          </p:cNvSpPr>
          <p:nvPr/>
        </p:nvSpPr>
        <p:spPr>
          <a:xfrm xmlns:a="http://schemas.openxmlformats.org/drawingml/2006/main">
            <a:off x="4048125" y="2095500"/>
            <a:ext cx="3476625" cy="10001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512 train</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128 validation</a:t>
            </a:r>
          </a:p>
        </p:txBody>
      </p:sp>
      <p:sp>
        <p:nvSpPr>
          <p:cNvPr id="536" name="">
            <a:extLst xmlns:a="http://schemas.openxmlformats.org/drawingml/2006/main">
              <a:ext uri="{FF2B5EF4-FFF2-40B4-BE49-F238E27FC236}">
                <a16:creationId xmlns:a16="http://schemas.microsoft.com/office/drawing/2014/main" id="{9B612A8C-A168-47B6-8659-F9B4D0A16581}"/>
              </a:ext>
            </a:extLst>
          </p:cNvPr>
          <p:cNvSpPr>
            <a:spLocks xmlns:a="http://schemas.openxmlformats.org/drawingml/2006/main" noGrp="1"/>
          </p:cNvSpPr>
          <p:nvPr/>
        </p:nvSpPr>
        <p:spPr>
          <a:xfrm xmlns:a="http://schemas.openxmlformats.org/drawingml/2006/main">
            <a:off x="8286750" y="2095500"/>
            <a:ext cx="3495675" cy="10001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256 held-out test</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same IDs in every run</a:t>
            </a:r>
          </a:p>
        </p:txBody>
      </p:sp>
      <p:cxnSp>
        <p:nvCxnSpPr>
          <p:cNvPr id="552" name=""/>
          <p:cNvCxnSpPr>
            <a:stCxn xmlns:a="http://schemas.openxmlformats.org/drawingml/2006/main" id="534" idx="3"/>
            <a:endCxn xmlns:a="http://schemas.openxmlformats.org/drawingml/2006/main" id="535" idx="1"/>
          </p:cNvCxnSpPr>
          <p:nvPr/>
        </p:nvCxnSpPr>
        <p:spPr>
          <a:xfrm xmlns:a="http://schemas.openxmlformats.org/drawingml/2006/main">
            <a:off x="3257550" y="2595563"/>
            <a:ext cx="790575" cy="0"/>
          </a:xfrm>
          <a:prstGeom xmlns:a="http://schemas.openxmlformats.org/drawingml/2006/main" prst="straightConnector1">
            <a:avLst/>
          </a:prstGeom>
          <a:ln xmlns:a="http://schemas.openxmlformats.org/drawingml/2006/main" w="19050">
            <a:solidFill>
              <a:srgbClr val="6DCBF4"/>
            </a:solidFill>
            <a:tailEnd type="arrow" w="med" len="med"/>
          </a:ln>
        </p:spPr>
      </p:cxnSp>
      <p:cxnSp>
        <p:nvCxnSpPr>
          <p:cNvPr id="553" name=""/>
          <p:cNvCxnSpPr>
            <a:stCxn xmlns:a="http://schemas.openxmlformats.org/drawingml/2006/main" id="535" idx="3"/>
            <a:endCxn xmlns:a="http://schemas.openxmlformats.org/drawingml/2006/main" id="536" idx="1"/>
          </p:cNvCxnSpPr>
          <p:nvPr/>
        </p:nvCxnSpPr>
        <p:spPr>
          <a:xfrm xmlns:a="http://schemas.openxmlformats.org/drawingml/2006/main">
            <a:off x="7524750" y="2595563"/>
            <a:ext cx="762000" cy="0"/>
          </a:xfrm>
          <a:prstGeom xmlns:a="http://schemas.openxmlformats.org/drawingml/2006/main" prst="straightConnector1">
            <a:avLst/>
          </a:prstGeom>
          <a:ln xmlns:a="http://schemas.openxmlformats.org/drawingml/2006/main" w="19050">
            <a:solidFill>
              <a:srgbClr val="6DCBF4"/>
            </a:solidFill>
            <a:tailEnd type="arrow" w="med" len="med"/>
          </a:ln>
        </p:spPr>
      </p:cxnSp>
      <p:sp>
        <p:nvSpPr>
          <p:cNvPr id="539" name="">
            <a:extLst xmlns:a="http://schemas.openxmlformats.org/drawingml/2006/main">
              <a:ext uri="{FF2B5EF4-FFF2-40B4-BE49-F238E27FC236}">
                <a16:creationId xmlns:a16="http://schemas.microsoft.com/office/drawing/2014/main" id="{05B15800-FE0A-41A0-A1F9-9EB4C097BDC8}"/>
              </a:ext>
            </a:extLst>
          </p:cNvPr>
          <p:cNvSpPr>
            <a:spLocks xmlns:a="http://schemas.openxmlformats.org/drawingml/2006/main" noGrp="1"/>
          </p:cNvSpPr>
          <p:nvPr/>
        </p:nvSpPr>
        <p:spPr>
          <a:xfrm xmlns:a="http://schemas.openxmlformats.org/drawingml/2006/main">
            <a:off x="400050" y="3810000"/>
            <a:ext cx="3524250" cy="1000125"/>
          </a:xfrm>
          <a:prstGeom xmlns:a="http://schemas.openxmlformats.org/drawingml/2006/main" prst="rect">
            <a:avLst/>
          </a:prstGeom>
          <a:solidFill xmlns:a="http://schemas.openxmlformats.org/drawingml/2006/main">
            <a:srgbClr val="101010"/>
          </a:solidFill>
          <a:ln xmlns:a="http://schemas.openxmlformats.org/drawingml/2006/main" w="19050">
            <a:solidFill>
              <a:srgbClr val="6DCBF4"/>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Seed 21</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AdamW + IVON</a:t>
            </a:r>
          </a:p>
        </p:txBody>
      </p:sp>
      <p:sp>
        <p:nvSpPr>
          <p:cNvPr id="540" name="">
            <a:extLst xmlns:a="http://schemas.openxmlformats.org/drawingml/2006/main">
              <a:ext uri="{FF2B5EF4-FFF2-40B4-BE49-F238E27FC236}">
                <a16:creationId xmlns:a16="http://schemas.microsoft.com/office/drawing/2014/main" id="{36CA2B77-EEE6-44E2-A8BC-6636BBC19D15}"/>
              </a:ext>
            </a:extLst>
          </p:cNvPr>
          <p:cNvSpPr>
            <a:spLocks xmlns:a="http://schemas.openxmlformats.org/drawingml/2006/main" noGrp="1"/>
          </p:cNvSpPr>
          <p:nvPr/>
        </p:nvSpPr>
        <p:spPr>
          <a:xfrm xmlns:a="http://schemas.openxmlformats.org/drawingml/2006/main">
            <a:off x="4257675" y="3810000"/>
            <a:ext cx="3524250" cy="1000125"/>
          </a:xfrm>
          <a:prstGeom xmlns:a="http://schemas.openxmlformats.org/drawingml/2006/main" prst="rect">
            <a:avLst/>
          </a:prstGeom>
          <a:solidFill xmlns:a="http://schemas.openxmlformats.org/drawingml/2006/main">
            <a:srgbClr val="101010"/>
          </a:solidFill>
          <a:ln xmlns:a="http://schemas.openxmlformats.org/drawingml/2006/main" w="19050">
            <a:solidFill>
              <a:srgbClr val="F3AF68"/>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Seed 42</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AdamW + IVON</a:t>
            </a:r>
          </a:p>
        </p:txBody>
      </p:sp>
      <p:sp>
        <p:nvSpPr>
          <p:cNvPr id="541" name="">
            <a:extLst xmlns:a="http://schemas.openxmlformats.org/drawingml/2006/main">
              <a:ext uri="{FF2B5EF4-FFF2-40B4-BE49-F238E27FC236}">
                <a16:creationId xmlns:a16="http://schemas.microsoft.com/office/drawing/2014/main" id="{A51B3F8F-3EA2-4E30-A908-2FFF23DF939C}"/>
              </a:ext>
            </a:extLst>
          </p:cNvPr>
          <p:cNvSpPr>
            <a:spLocks xmlns:a="http://schemas.openxmlformats.org/drawingml/2006/main" noGrp="1"/>
          </p:cNvSpPr>
          <p:nvPr/>
        </p:nvSpPr>
        <p:spPr>
          <a:xfrm xmlns:a="http://schemas.openxmlformats.org/drawingml/2006/main">
            <a:off x="8115300" y="3810000"/>
            <a:ext cx="3524250" cy="1000125"/>
          </a:xfrm>
          <a:prstGeom xmlns:a="http://schemas.openxmlformats.org/drawingml/2006/main" prst="rect">
            <a:avLst/>
          </a:prstGeom>
          <a:solidFill xmlns:a="http://schemas.openxmlformats.org/drawingml/2006/main">
            <a:srgbClr val="101010"/>
          </a:solidFill>
          <a:ln xmlns:a="http://schemas.openxmlformats.org/drawingml/2006/main" w="19050">
            <a:solidFill>
              <a:srgbClr val="BC9DF5"/>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Seed 87</a:t>
            </a:r>
          </a:p>
          <a:p xmlns:a="http://schemas.openxmlformats.org/drawingml/2006/main">
            <a:pPr algn="ctr">
              <a:defRPr sz="2025">
                <a:solidFill>
                  <a:srgbClr val="FFFFFF"/>
                </a:solidFill>
                <a:latin typeface="Helvetica Neue"/>
                <a:ea typeface="Helvetica Neue"/>
                <a:cs typeface="Helvetica Neue"/>
              </a:defRPr>
            </a:pPr>
            <a:r>
              <a:rPr sz="2025">
                <a:solidFill>
                  <a:srgbClr val="FFFFFF"/>
                </a:solidFill>
                <a:latin typeface="Helvetica Neue"/>
                <a:ea typeface="Helvetica Neue"/>
                <a:cs typeface="Helvetica Neue"/>
              </a:rPr>
              <a:t>AdamW + IVON</a:t>
            </a:r>
          </a:p>
        </p:txBody>
      </p:sp>
      <p:sp>
        <p:nvSpPr>
          <p:cNvPr id="542" name="">
            <a:extLst xmlns:a="http://schemas.openxmlformats.org/drawingml/2006/main">
              <a:ext uri="{FF2B5EF4-FFF2-40B4-BE49-F238E27FC236}">
                <a16:creationId xmlns:a16="http://schemas.microsoft.com/office/drawing/2014/main" id="{B8D3DF69-46D3-4997-A2E2-FC9B3B5A5A63}"/>
              </a:ext>
            </a:extLst>
          </p:cNvPr>
          <p:cNvSpPr>
            <a:spLocks xmlns:a="http://schemas.openxmlformats.org/drawingml/2006/main" noGrp="1"/>
          </p:cNvSpPr>
          <p:nvPr/>
        </p:nvSpPr>
        <p:spPr>
          <a:xfrm xmlns:a="http://schemas.openxmlformats.org/drawingml/2006/main">
            <a:off x="400050" y="523875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6DCBF4"/>
                </a:solidFill>
                <a:latin typeface="Helvetica Neue"/>
                <a:ea typeface="Helvetica Neue"/>
                <a:cs typeface="Helvetica Neue"/>
              </a:defRPr>
            </a:pPr>
            <a:r>
              <a:rPr sz="2175" b="1">
                <a:solidFill>
                  <a:srgbClr val="6DCBF4"/>
                </a:solidFill>
                <a:latin typeface="Helvetica Neue"/>
                <a:ea typeface="Helvetica Neue"/>
                <a:cs typeface="Helvetica Neue"/>
              </a:rPr>
              <a:t>128 steps per run, effective batch 8, FP32 on one Tesla T4</a:t>
            </a:r>
          </a:p>
        </p:txBody>
      </p:sp>
      <p:sp>
        <p:nvSpPr>
          <p:cNvPr id="543" name="">
            <a:extLst xmlns:a="http://schemas.openxmlformats.org/drawingml/2006/main">
              <a:ext uri="{FF2B5EF4-FFF2-40B4-BE49-F238E27FC236}">
                <a16:creationId xmlns:a16="http://schemas.microsoft.com/office/drawing/2014/main" id="{2AEFEDA9-95F0-4E2D-8BDE-9D53584BE1D8}"/>
              </a:ext>
            </a:extLst>
          </p:cNvPr>
          <p:cNvSpPr>
            <a:spLocks xmlns:a="http://schemas.openxmlformats.org/drawingml/2006/main" noGrp="1"/>
          </p:cNvSpPr>
          <p:nvPr/>
        </p:nvSpPr>
        <p:spPr>
          <a:xfrm xmlns:a="http://schemas.openxmlformats.org/drawingml/2006/main">
            <a:off x="400050" y="5857875"/>
            <a:ext cx="1114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AdamW learning rate: 0.0002     IVON learning rate: 0.03     ESS: 1,000,000</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3D7D1C8-AE23-AA48-DF65-C742588DBE47}" type="slidenum">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Accuracy and calibration metrics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534" name="">
            <a:extLst xmlns:a="http://schemas.openxmlformats.org/drawingml/2006/main">
              <a:ext uri="{FF2B5EF4-FFF2-40B4-BE49-F238E27FC236}">
                <a16:creationId xmlns:a16="http://schemas.microsoft.com/office/drawing/2014/main" id="{F9EF3578-B134-4FDF-BB2C-6F09319C5B1D}"/>
              </a:ext>
            </a:extLst>
          </p:cNvPr>
          <p:cNvSpPr>
            <a:spLocks xmlns:a="http://schemas.openxmlformats.org/drawingml/2006/main" noGrp="1"/>
          </p:cNvSpPr>
          <p:nvPr/>
        </p:nvSpPr>
        <p:spPr>
          <a:xfrm xmlns:a="http://schemas.openxmlformats.org/drawingml/2006/main">
            <a:off x="400050" y="2000250"/>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6DCBF4"/>
                </a:solidFill>
                <a:latin typeface="Helvetica Neue"/>
                <a:ea typeface="Helvetica Neue"/>
                <a:cs typeface="Helvetica Neue"/>
              </a:defRPr>
            </a:pPr>
            <a:r>
              <a:rPr sz="2400" b="1">
                <a:solidFill>
                  <a:srgbClr val="6DCBF4"/>
                </a:solidFill>
                <a:latin typeface="Helvetica Neue"/>
                <a:ea typeface="Helvetica Neue"/>
                <a:cs typeface="Helvetica Neue"/>
              </a:rPr>
              <a:t>Accuracy</a:t>
            </a:r>
          </a:p>
        </p:txBody>
      </p:sp>
      <p:sp>
        <p:nvSpPr>
          <p:cNvPr id="535" name="">
            <a:extLst xmlns:a="http://schemas.openxmlformats.org/drawingml/2006/main">
              <a:ext uri="{FF2B5EF4-FFF2-40B4-BE49-F238E27FC236}">
                <a16:creationId xmlns:a16="http://schemas.microsoft.com/office/drawing/2014/main" id="{10500278-908A-43C8-B676-BC8DBFCA9C65}"/>
              </a:ext>
            </a:extLst>
          </p:cNvPr>
          <p:cNvSpPr>
            <a:spLocks xmlns:a="http://schemas.openxmlformats.org/drawingml/2006/main" noGrp="1"/>
          </p:cNvSpPr>
          <p:nvPr/>
        </p:nvSpPr>
        <p:spPr>
          <a:xfrm xmlns:a="http://schemas.openxmlformats.org/drawingml/2006/main">
            <a:off x="400050" y="2714625"/>
            <a:ext cx="3524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Fraction of correct</a:t>
            </a:r>
          </a:p>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answers.</a:t>
            </a:r>
          </a:p>
          <a:p xmlns:a="http://schemas.openxmlformats.org/drawingml/2006/main">
            <a:r>
              <a:t/>
            </a:r>
          </a:p>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Higher is better.</a:t>
            </a:r>
          </a:p>
        </p:txBody>
      </p:sp>
      <p:sp>
        <p:nvSpPr>
          <p:cNvPr id="536" name="">
            <a:extLst xmlns:a="http://schemas.openxmlformats.org/drawingml/2006/main">
              <a:ext uri="{FF2B5EF4-FFF2-40B4-BE49-F238E27FC236}">
                <a16:creationId xmlns:a16="http://schemas.microsoft.com/office/drawing/2014/main" id="{33F48652-AE66-498F-A358-9BC1213C9920}"/>
              </a:ext>
            </a:extLst>
          </p:cNvPr>
          <p:cNvSpPr>
            <a:spLocks xmlns:a="http://schemas.openxmlformats.org/drawingml/2006/main" noGrp="1"/>
          </p:cNvSpPr>
          <p:nvPr/>
        </p:nvSpPr>
        <p:spPr>
          <a:xfrm xmlns:a="http://schemas.openxmlformats.org/drawingml/2006/main">
            <a:off x="4257675" y="2000250"/>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F3AF68"/>
                </a:solidFill>
                <a:latin typeface="Helvetica Neue"/>
                <a:ea typeface="Helvetica Neue"/>
                <a:cs typeface="Helvetica Neue"/>
              </a:defRPr>
            </a:pPr>
            <a:r>
              <a:rPr sz="2400" b="1">
                <a:solidFill>
                  <a:srgbClr val="F3AF68"/>
                </a:solidFill>
                <a:latin typeface="Helvetica Neue"/>
                <a:ea typeface="Helvetica Neue"/>
                <a:cs typeface="Helvetica Neue"/>
              </a:rPr>
              <a:t>ECE</a:t>
            </a:r>
          </a:p>
        </p:txBody>
      </p:sp>
      <p:sp>
        <p:nvSpPr>
          <p:cNvPr id="537" name="">
            <a:extLst xmlns:a="http://schemas.openxmlformats.org/drawingml/2006/main">
              <a:ext uri="{FF2B5EF4-FFF2-40B4-BE49-F238E27FC236}">
                <a16:creationId xmlns:a16="http://schemas.microsoft.com/office/drawing/2014/main" id="{0464B953-2C2F-432D-AD31-FC9F08FB87A0}"/>
              </a:ext>
            </a:extLst>
          </p:cNvPr>
          <p:cNvSpPr>
            <a:spLocks xmlns:a="http://schemas.openxmlformats.org/drawingml/2006/main" noGrp="1"/>
          </p:cNvSpPr>
          <p:nvPr/>
        </p:nvSpPr>
        <p:spPr>
          <a:xfrm xmlns:a="http://schemas.openxmlformats.org/drawingml/2006/main">
            <a:off x="4257675" y="2714625"/>
            <a:ext cx="3524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Confidence–accuracy</a:t>
            </a:r>
          </a:p>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gap within bins.</a:t>
            </a:r>
          </a:p>
          <a:p xmlns:a="http://schemas.openxmlformats.org/drawingml/2006/main">
            <a:r>
              <a:t/>
            </a:r>
          </a:p>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Lower is better.</a:t>
            </a:r>
          </a:p>
        </p:txBody>
      </p:sp>
      <p:sp>
        <p:nvSpPr>
          <p:cNvPr id="538" name="">
            <a:extLst xmlns:a="http://schemas.openxmlformats.org/drawingml/2006/main">
              <a:ext uri="{FF2B5EF4-FFF2-40B4-BE49-F238E27FC236}">
                <a16:creationId xmlns:a16="http://schemas.microsoft.com/office/drawing/2014/main" id="{5A12346A-C151-4903-BF86-38E3C85CD2DB}"/>
              </a:ext>
            </a:extLst>
          </p:cNvPr>
          <p:cNvSpPr>
            <a:spLocks xmlns:a="http://schemas.openxmlformats.org/drawingml/2006/main" noGrp="1"/>
          </p:cNvSpPr>
          <p:nvPr/>
        </p:nvSpPr>
        <p:spPr>
          <a:xfrm xmlns:a="http://schemas.openxmlformats.org/drawingml/2006/main">
            <a:off x="8115300" y="2000250"/>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BC9DF5"/>
                </a:solidFill>
                <a:latin typeface="Helvetica Neue"/>
                <a:ea typeface="Helvetica Neue"/>
                <a:cs typeface="Helvetica Neue"/>
              </a:defRPr>
            </a:pPr>
            <a:r>
              <a:rPr sz="2400" b="1">
                <a:solidFill>
                  <a:srgbClr val="BC9DF5"/>
                </a:solidFill>
                <a:latin typeface="Helvetica Neue"/>
                <a:ea typeface="Helvetica Neue"/>
                <a:cs typeface="Helvetica Neue"/>
              </a:rPr>
              <a:t>NLL</a:t>
            </a:r>
          </a:p>
        </p:txBody>
      </p:sp>
      <p:sp>
        <p:nvSpPr>
          <p:cNvPr id="539" name="">
            <a:extLst xmlns:a="http://schemas.openxmlformats.org/drawingml/2006/main">
              <a:ext uri="{FF2B5EF4-FFF2-40B4-BE49-F238E27FC236}">
                <a16:creationId xmlns:a16="http://schemas.microsoft.com/office/drawing/2014/main" id="{C3A751B9-B568-4F03-903D-F0B33B4CEBE4}"/>
              </a:ext>
            </a:extLst>
          </p:cNvPr>
          <p:cNvSpPr>
            <a:spLocks xmlns:a="http://schemas.openxmlformats.org/drawingml/2006/main" noGrp="1"/>
          </p:cNvSpPr>
          <p:nvPr/>
        </p:nvSpPr>
        <p:spPr>
          <a:xfrm xmlns:a="http://schemas.openxmlformats.org/drawingml/2006/main">
            <a:off x="8115300" y="2714625"/>
            <a:ext cx="3524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−mean log p(true answer)</a:t>
            </a:r>
          </a:p>
          <a:p xmlns:a="http://schemas.openxmlformats.org/drawingml/2006/main">
            <a:r>
              <a:t/>
            </a:r>
          </a:p>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Confident errors cost more.</a:t>
            </a:r>
          </a:p>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Lower is better.</a:t>
            </a:r>
          </a:p>
        </p:txBody>
      </p:sp>
      <p:sp>
        <p:nvSpPr>
          <p:cNvPr id="540" name="">
            <a:extLst xmlns:a="http://schemas.openxmlformats.org/drawingml/2006/main">
              <a:ext uri="{FF2B5EF4-FFF2-40B4-BE49-F238E27FC236}">
                <a16:creationId xmlns:a16="http://schemas.microsoft.com/office/drawing/2014/main" id="{4FA0FBD8-6980-4279-97D9-3BD09D9A5ACE}"/>
              </a:ext>
            </a:extLst>
          </p:cNvPr>
          <p:cNvSpPr>
            <a:spLocks xmlns:a="http://schemas.openxmlformats.org/drawingml/2006/main" noGrp="1"/>
          </p:cNvSpPr>
          <p:nvPr/>
        </p:nvSpPr>
        <p:spPr>
          <a:xfrm xmlns:a="http://schemas.openxmlformats.org/drawingml/2006/main">
            <a:off x="400050" y="5429250"/>
            <a:ext cx="11239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We report mean ± sample SD and paired differences across seeds 21, 42, and 87.</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BA58DA2A-B818-18A9-29C1-B697728D5BCE}" type="slidenum">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Published Llama-2 7B reference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graphicFrame>
        <p:nvGraphicFramePr>
          <p:cNvPr id="541" name=""/>
          <p:cNvGraphicFramePr/>
          <p:nvPr/>
        </p:nvGraphicFramePr>
        <p:xfrm>
          <a:off xmlns:a="http://schemas.openxmlformats.org/drawingml/2006/main" x="400050" y="2095500"/>
          <a:ext xmlns:a="http://schemas.openxmlformats.org/drawingml/2006/main" cx="11391900" cy="2286000"/>
        </p:xfrm>
        <a:graphic xmlns:a="http://schemas.openxmlformats.org/drawingml/2006/main">
          <a:graphicData uri="http://schemas.openxmlformats.org/drawingml/2006/table">
            <a:tbl>
              <a:tblPr/>
              <a:tblGrid>
                <a:gridCol w="3429000"/>
                <a:gridCol w="2647950"/>
                <a:gridCol w="2647950"/>
                <a:gridCol w="2667000"/>
              </a:tblGrid>
              <a:tr h="571500">
                <a:tc>
                  <a:txBody>
                    <a:bodyPr/>
                    <a:lstStyle/>
                    <a:p>
                      <a:r>
                        <a:rPr sz="1875" b="1">
                          <a:solidFill>
                            <a:srgbClr val="6DCBF4"/>
                          </a:solidFill>
                          <a:latin typeface="Helvetica Neue"/>
                          <a:ea typeface="Helvetica Neue"/>
                          <a:cs typeface="Helvetica Neue"/>
                        </a:rPr>
                        <a:t>Method</a:t>
                      </a:r>
                    </a:p>
                  </a:txBody>
                  <a:tcPr marL="95250" marR="95250" marT="133350" marB="133350">
                    <a:solidFill>
                      <a:srgbClr val="000000"/>
                    </a:solidFill>
                  </a:tcPr>
                </a:tc>
                <a:tc>
                  <a:txBody>
                    <a:bodyPr/>
                    <a:lstStyle/>
                    <a:p>
                      <a:r>
                        <a:rPr sz="1875" b="1">
                          <a:solidFill>
                            <a:srgbClr val="6DCBF4"/>
                          </a:solidFill>
                          <a:latin typeface="Helvetica Neue"/>
                          <a:ea typeface="Helvetica Neue"/>
                          <a:cs typeface="Helvetica Neue"/>
                        </a:rPr>
                        <a:t>Accuracy (%)</a:t>
                      </a:r>
                    </a:p>
                  </a:txBody>
                  <a:tcPr marL="95250" marR="95250" marT="133350" marB="133350">
                    <a:solidFill>
                      <a:srgbClr val="000000"/>
                    </a:solidFill>
                  </a:tcPr>
                </a:tc>
                <a:tc>
                  <a:txBody>
                    <a:bodyPr/>
                    <a:lstStyle/>
                    <a:p>
                      <a:r>
                        <a:rPr sz="1875" b="1">
                          <a:solidFill>
                            <a:srgbClr val="6DCBF4"/>
                          </a:solidFill>
                          <a:latin typeface="Helvetica Neue"/>
                          <a:ea typeface="Helvetica Neue"/>
                          <a:cs typeface="Helvetica Neue"/>
                        </a:rPr>
                        <a:t>ECE (points)</a:t>
                      </a:r>
                    </a:p>
                  </a:txBody>
                  <a:tcPr marL="95250" marR="95250" marT="133350" marB="133350">
                    <a:solidFill>
                      <a:srgbClr val="000000"/>
                    </a:solidFill>
                  </a:tcPr>
                </a:tc>
                <a:tc>
                  <a:txBody>
                    <a:bodyPr/>
                    <a:lstStyle/>
                    <a:p>
                      <a:r>
                        <a:rPr sz="1875" b="1">
                          <a:solidFill>
                            <a:srgbClr val="6DCBF4"/>
                          </a:solidFill>
                          <a:latin typeface="Helvetica Neue"/>
                          <a:ea typeface="Helvetica Neue"/>
                          <a:cs typeface="Helvetica Neue"/>
                        </a:rPr>
                        <a:t>NLL</a:t>
                      </a:r>
                    </a:p>
                  </a:txBody>
                  <a:tcPr marL="95250" marR="95250" marT="133350" marB="133350">
                    <a:solidFill>
                      <a:srgbClr val="000000"/>
                    </a:solidFill>
                  </a:tcPr>
                </a:tc>
              </a:tr>
              <a:tr h="571500">
                <a:tc>
                  <a:txBody>
                    <a:bodyPr/>
                    <a:lstStyle/>
                    <a:p>
                      <a:r>
                        <a:rPr sz="1875">
                          <a:solidFill>
                            <a:srgbClr val="FFFFFF"/>
                          </a:solidFill>
                          <a:latin typeface="Helvetica Neue"/>
                          <a:ea typeface="Helvetica Neue"/>
                          <a:cs typeface="Helvetica Neue"/>
                        </a:rPr>
                        <a:t>AdamW</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76.1</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21.8</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2.24</a:t>
                      </a:r>
                    </a:p>
                  </a:txBody>
                  <a:tcPr marL="95250" marR="95250" marT="133350" marB="133350">
                    <a:solidFill>
                      <a:srgbClr val="000000"/>
                    </a:solidFill>
                  </a:tcPr>
                </a:tc>
              </a:tr>
              <a:tr h="571500">
                <a:tc>
                  <a:txBody>
                    <a:bodyPr/>
                    <a:lstStyle/>
                    <a:p>
                      <a:r>
                        <a:rPr sz="1875">
                          <a:solidFill>
                            <a:srgbClr val="FFFFFF"/>
                          </a:solidFill>
                          <a:latin typeface="Helvetica Neue"/>
                          <a:ea typeface="Helvetica Neue"/>
                          <a:cs typeface="Helvetica Neue"/>
                        </a:rPr>
                        <a:t>IVON mean</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78.9</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17.2</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1.60</a:t>
                      </a:r>
                    </a:p>
                  </a:txBody>
                  <a:tcPr marL="95250" marR="95250" marT="133350" marB="133350">
                    <a:solidFill>
                      <a:srgbClr val="000000"/>
                    </a:solidFill>
                  </a:tcPr>
                </a:tc>
              </a:tr>
              <a:tr h="571500">
                <a:tc>
                  <a:txBody>
                    <a:bodyPr/>
                    <a:lstStyle/>
                    <a:p>
                      <a:r>
                        <a:rPr sz="1875">
                          <a:solidFill>
                            <a:srgbClr val="FFFFFF"/>
                          </a:solidFill>
                          <a:latin typeface="Helvetica Neue"/>
                          <a:ea typeface="Helvetica Neue"/>
                          <a:cs typeface="Helvetica Neue"/>
                        </a:rPr>
                        <a:t>IVON, 10 draws</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77.8</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10.6</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1.11</a:t>
                      </a:r>
                    </a:p>
                  </a:txBody>
                  <a:tcPr marL="95250" marR="95250" marT="133350" marB="133350">
                    <a:solidFill>
                      <a:srgbClr val="000000"/>
                    </a:solidFill>
                  </a:tcPr>
                </a:tc>
              </a:tr>
            </a:tbl>
          </a:graphicData>
        </a:graphic>
      </p:graphicFrame>
      <p:sp>
        <p:nvSpPr>
          <p:cNvPr id="535" name="">
            <a:extLst xmlns:a="http://schemas.openxmlformats.org/drawingml/2006/main">
              <a:ext uri="{FF2B5EF4-FFF2-40B4-BE49-F238E27FC236}">
                <a16:creationId xmlns:a16="http://schemas.microsoft.com/office/drawing/2014/main" id="{8D4A7884-9A65-4CB0-BD17-91422AE1C46A}"/>
              </a:ext>
            </a:extLst>
          </p:cNvPr>
          <p:cNvSpPr>
            <a:spLocks xmlns:a="http://schemas.openxmlformats.org/drawingml/2006/main" noGrp="1"/>
          </p:cNvSpPr>
          <p:nvPr/>
        </p:nvSpPr>
        <p:spPr>
          <a:xfrm xmlns:a="http://schemas.openxmlformats.org/drawingml/2006/main">
            <a:off x="400050" y="4810125"/>
            <a:ext cx="1133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Published averages across six commonsense reasoning tasks.</a:t>
            </a:r>
          </a:p>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These values describe the paper’s experiment.</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88657AE-30A1-5A7A-6A7F-315D84436430}" type="slidenum">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Our measured Qwen results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graphicFrame>
        <p:nvGraphicFramePr>
          <p:cNvPr id="541" name=""/>
          <p:cNvGraphicFramePr/>
          <p:nvPr/>
        </p:nvGraphicFramePr>
        <p:xfrm>
          <a:off xmlns:a="http://schemas.openxmlformats.org/drawingml/2006/main" x="400050" y="2095500"/>
          <a:ext xmlns:a="http://schemas.openxmlformats.org/drawingml/2006/main" cx="11391900" cy="2286000"/>
        </p:xfrm>
        <a:graphic xmlns:a="http://schemas.openxmlformats.org/drawingml/2006/main">
          <a:graphicData uri="http://schemas.openxmlformats.org/drawingml/2006/table">
            <a:tbl>
              <a:tblPr/>
              <a:tblGrid>
                <a:gridCol w="3429000"/>
                <a:gridCol w="2647950"/>
                <a:gridCol w="2647950"/>
                <a:gridCol w="2667000"/>
              </a:tblGrid>
              <a:tr h="571500">
                <a:tc>
                  <a:txBody>
                    <a:bodyPr/>
                    <a:lstStyle/>
                    <a:p>
                      <a:r>
                        <a:rPr sz="1875" b="1">
                          <a:solidFill>
                            <a:srgbClr val="6DCBF4"/>
                          </a:solidFill>
                          <a:latin typeface="Helvetica Neue"/>
                          <a:ea typeface="Helvetica Neue"/>
                          <a:cs typeface="Helvetica Neue"/>
                        </a:rPr>
                        <a:t>Method</a:t>
                      </a:r>
                    </a:p>
                  </a:txBody>
                  <a:tcPr marL="95250" marR="95250" marT="133350" marB="133350">
                    <a:solidFill>
                      <a:srgbClr val="000000"/>
                    </a:solidFill>
                  </a:tcPr>
                </a:tc>
                <a:tc>
                  <a:txBody>
                    <a:bodyPr/>
                    <a:lstStyle/>
                    <a:p>
                      <a:r>
                        <a:rPr sz="1875" b="1">
                          <a:solidFill>
                            <a:srgbClr val="6DCBF4"/>
                          </a:solidFill>
                          <a:latin typeface="Helvetica Neue"/>
                          <a:ea typeface="Helvetica Neue"/>
                          <a:cs typeface="Helvetica Neue"/>
                        </a:rPr>
                        <a:t>Accuracy (%)</a:t>
                      </a:r>
                    </a:p>
                  </a:txBody>
                  <a:tcPr marL="95250" marR="95250" marT="133350" marB="133350">
                    <a:solidFill>
                      <a:srgbClr val="000000"/>
                    </a:solidFill>
                  </a:tcPr>
                </a:tc>
                <a:tc>
                  <a:txBody>
                    <a:bodyPr/>
                    <a:lstStyle/>
                    <a:p>
                      <a:r>
                        <a:rPr sz="1875" b="1">
                          <a:solidFill>
                            <a:srgbClr val="6DCBF4"/>
                          </a:solidFill>
                          <a:latin typeface="Helvetica Neue"/>
                          <a:ea typeface="Helvetica Neue"/>
                          <a:cs typeface="Helvetica Neue"/>
                        </a:rPr>
                        <a:t>ECE (points)</a:t>
                      </a:r>
                    </a:p>
                  </a:txBody>
                  <a:tcPr marL="95250" marR="95250" marT="133350" marB="133350">
                    <a:solidFill>
                      <a:srgbClr val="000000"/>
                    </a:solidFill>
                  </a:tcPr>
                </a:tc>
                <a:tc>
                  <a:txBody>
                    <a:bodyPr/>
                    <a:lstStyle/>
                    <a:p>
                      <a:r>
                        <a:rPr sz="1875" b="1">
                          <a:solidFill>
                            <a:srgbClr val="6DCBF4"/>
                          </a:solidFill>
                          <a:latin typeface="Helvetica Neue"/>
                          <a:ea typeface="Helvetica Neue"/>
                          <a:cs typeface="Helvetica Neue"/>
                        </a:rPr>
                        <a:t>NLL</a:t>
                      </a:r>
                    </a:p>
                  </a:txBody>
                  <a:tcPr marL="95250" marR="95250" marT="133350" marB="133350">
                    <a:solidFill>
                      <a:srgbClr val="000000"/>
                    </a:solidFill>
                  </a:tcPr>
                </a:tc>
              </a:tr>
              <a:tr h="571500">
                <a:tc>
                  <a:txBody>
                    <a:bodyPr/>
                    <a:lstStyle/>
                    <a:p>
                      <a:r>
                        <a:rPr sz="1875">
                          <a:solidFill>
                            <a:srgbClr val="FFFFFF"/>
                          </a:solidFill>
                          <a:latin typeface="Helvetica Neue"/>
                          <a:ea typeface="Helvetica Neue"/>
                          <a:cs typeface="Helvetica Neue"/>
                        </a:rPr>
                        <a:t>AdamW</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73.18 ± 1.76</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6.89 ± 2.30</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0.680 ± 0.005</a:t>
                      </a:r>
                    </a:p>
                  </a:txBody>
                  <a:tcPr marL="95250" marR="95250" marT="133350" marB="133350">
                    <a:solidFill>
                      <a:srgbClr val="000000"/>
                    </a:solidFill>
                  </a:tcPr>
                </a:tc>
              </a:tr>
              <a:tr h="571500">
                <a:tc>
                  <a:txBody>
                    <a:bodyPr/>
                    <a:lstStyle/>
                    <a:p>
                      <a:r>
                        <a:rPr sz="1875">
                          <a:solidFill>
                            <a:srgbClr val="FFFFFF"/>
                          </a:solidFill>
                          <a:latin typeface="Helvetica Neue"/>
                          <a:ea typeface="Helvetica Neue"/>
                          <a:cs typeface="Helvetica Neue"/>
                        </a:rPr>
                        <a:t>IVON mean</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72.14 ± 0.23</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6.99 ± 0.29</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0.680 ± 0.003</a:t>
                      </a:r>
                    </a:p>
                  </a:txBody>
                  <a:tcPr marL="95250" marR="95250" marT="133350" marB="133350">
                    <a:solidFill>
                      <a:srgbClr val="000000"/>
                    </a:solidFill>
                  </a:tcPr>
                </a:tc>
              </a:tr>
              <a:tr h="571500">
                <a:tc>
                  <a:txBody>
                    <a:bodyPr/>
                    <a:lstStyle/>
                    <a:p>
                      <a:r>
                        <a:rPr sz="1875">
                          <a:solidFill>
                            <a:srgbClr val="FFFFFF"/>
                          </a:solidFill>
                          <a:latin typeface="Helvetica Neue"/>
                          <a:ea typeface="Helvetica Neue"/>
                          <a:cs typeface="Helvetica Neue"/>
                        </a:rPr>
                        <a:t>IVON 10 draws</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69.40 ± 1.37</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17.95 ± 1.49</a:t>
                      </a:r>
                    </a:p>
                  </a:txBody>
                  <a:tcPr marL="95250" marR="95250" marT="133350" marB="133350">
                    <a:solidFill>
                      <a:srgbClr val="000000"/>
                    </a:solidFill>
                  </a:tcPr>
                </a:tc>
                <a:tc>
                  <a:txBody>
                    <a:bodyPr/>
                    <a:lstStyle/>
                    <a:p>
                      <a:r>
                        <a:rPr sz="1875">
                          <a:solidFill>
                            <a:srgbClr val="FFFFFF"/>
                          </a:solidFill>
                          <a:latin typeface="Helvetica Neue"/>
                          <a:ea typeface="Helvetica Neue"/>
                          <a:cs typeface="Helvetica Neue"/>
                        </a:rPr>
                        <a:t>0.884 ± 0.040</a:t>
                      </a:r>
                    </a:p>
                  </a:txBody>
                  <a:tcPr marL="95250" marR="95250" marT="133350" marB="133350">
                    <a:solidFill>
                      <a:srgbClr val="000000"/>
                    </a:solidFill>
                  </a:tcPr>
                </a:tc>
              </a:tr>
            </a:tbl>
          </a:graphicData>
        </a:graphic>
      </p:graphicFrame>
      <p:sp>
        <p:nvSpPr>
          <p:cNvPr id="535" name="">
            <a:extLst xmlns:a="http://schemas.openxmlformats.org/drawingml/2006/main">
              <a:ext uri="{FF2B5EF4-FFF2-40B4-BE49-F238E27FC236}">
                <a16:creationId xmlns:a16="http://schemas.microsoft.com/office/drawing/2014/main" id="{F1F5E9C1-A466-4EA2-92F3-95B2B4F5C7A4}"/>
              </a:ext>
            </a:extLst>
          </p:cNvPr>
          <p:cNvSpPr>
            <a:spLocks xmlns:a="http://schemas.openxmlformats.org/drawingml/2006/main" noGrp="1"/>
          </p:cNvSpPr>
          <p:nvPr/>
        </p:nvSpPr>
        <p:spPr>
          <a:xfrm xmlns:a="http://schemas.openxmlformats.org/drawingml/2006/main">
            <a:off x="400050" y="4810125"/>
            <a:ext cx="1133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Mean ± sample SD over three seeds and 256 test questions.</a:t>
            </a:r>
          </a:p>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IVON mean showed no clear ECE benefit in this setting.</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B7BEEEC-A170-5376-2B6E-CB54687B0CB1}" type="slidenum">
              <a:t>10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Variation across the three seeds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graphicFrame>
        <p:nvGraphicFramePr>
          <p:cNvPr id="543" name="Chart"/>
          <p:cNvGraphicFramePr/>
          <p:nvPr/>
        </p:nvGraphicFramePr>
        <p:xfrm>
          <a:off xmlns:a="http://schemas.openxmlformats.org/drawingml/2006/main" x="400050" y="2047875"/>
          <a:ext xmlns:a="http://schemas.openxmlformats.org/drawingml/2006/main" cx="3619500" cy="3381375"/>
        </p:xfrm>
        <a:graphic xmlns:a="http://schemas.openxmlformats.org/drawingml/2006/main">
          <a:graphicData uri="http://schemas.openxmlformats.org/drawingml/2006/chart">
            <c:chart xmlns:r="http://schemas.openxmlformats.org/officeDocument/2006/relationships" xmlns:c="http://schemas.openxmlformats.org/drawingml/2006/chart" r:id="R71326a3cbf2147c7"/>
          </a:graphicData>
        </a:graphic>
      </p:graphicFrame>
      <p:graphicFrame>
        <p:nvGraphicFramePr>
          <p:cNvPr id="544" name="Chart"/>
          <p:cNvGraphicFramePr/>
          <p:nvPr/>
        </p:nvGraphicFramePr>
        <p:xfrm>
          <a:off xmlns:a="http://schemas.openxmlformats.org/drawingml/2006/main" x="4257675" y="2047875"/>
          <a:ext xmlns:a="http://schemas.openxmlformats.org/drawingml/2006/main" cx="3619500" cy="3381375"/>
        </p:xfrm>
        <a:graphic xmlns:a="http://schemas.openxmlformats.org/drawingml/2006/main">
          <a:graphicData uri="http://schemas.openxmlformats.org/drawingml/2006/chart">
            <c:chart xmlns:r="http://schemas.openxmlformats.org/officeDocument/2006/relationships" xmlns:c="http://schemas.openxmlformats.org/drawingml/2006/chart" r:id="R9d1152c792e548a8"/>
          </a:graphicData>
        </a:graphic>
      </p:graphicFrame>
      <p:graphicFrame>
        <p:nvGraphicFramePr>
          <p:cNvPr id="545" name="Chart"/>
          <p:cNvGraphicFramePr/>
          <p:nvPr/>
        </p:nvGraphicFramePr>
        <p:xfrm>
          <a:off xmlns:a="http://schemas.openxmlformats.org/drawingml/2006/main" x="8115300" y="2047875"/>
          <a:ext xmlns:a="http://schemas.openxmlformats.org/drawingml/2006/main" cx="3619500" cy="3381375"/>
        </p:xfrm>
        <a:graphic xmlns:a="http://schemas.openxmlformats.org/drawingml/2006/main">
          <a:graphicData uri="http://schemas.openxmlformats.org/drawingml/2006/chart">
            <c:chart xmlns:r="http://schemas.openxmlformats.org/officeDocument/2006/relationships" xmlns:c="http://schemas.openxmlformats.org/drawingml/2006/chart" r:id="Rd1b7cbc20e734060"/>
          </a:graphicData>
        </a:graphic>
      </p:graphicFrame>
      <p:sp>
        <p:nvSpPr>
          <p:cNvPr id="537" name="">
            <a:extLst xmlns:a="http://schemas.openxmlformats.org/drawingml/2006/main">
              <a:ext uri="{FF2B5EF4-FFF2-40B4-BE49-F238E27FC236}">
                <a16:creationId xmlns:a16="http://schemas.microsoft.com/office/drawing/2014/main" id="{081E6DA4-E5FF-477E-A259-858D06B95F88}"/>
              </a:ext>
            </a:extLst>
          </p:cNvPr>
          <p:cNvSpPr>
            <a:spLocks xmlns:a="http://schemas.openxmlformats.org/drawingml/2006/main" noGrp="1"/>
          </p:cNvSpPr>
          <p:nvPr/>
        </p:nvSpPr>
        <p:spPr>
          <a:xfrm xmlns:a="http://schemas.openxmlformats.org/drawingml/2006/main">
            <a:off x="400050" y="57626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IVON mean minus AdamW: accuracy −1.04 ± 1.97 points, ECE +0.11 ± 2.39 points.</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Recorded training loss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graphicFrame>
        <p:nvGraphicFramePr>
          <p:cNvPr id="543" name="Chart"/>
          <p:cNvGraphicFramePr/>
          <p:nvPr/>
        </p:nvGraphicFramePr>
        <p:xfrm>
          <a:off xmlns:a="http://schemas.openxmlformats.org/drawingml/2006/main" x="400050" y="2047875"/>
          <a:ext xmlns:a="http://schemas.openxmlformats.org/drawingml/2006/main" cx="3619500" cy="3381375"/>
        </p:xfrm>
        <a:graphic xmlns:a="http://schemas.openxmlformats.org/drawingml/2006/main">
          <a:graphicData uri="http://schemas.openxmlformats.org/drawingml/2006/chart">
            <c:chart xmlns:r="http://schemas.openxmlformats.org/officeDocument/2006/relationships" xmlns:c="http://schemas.openxmlformats.org/drawingml/2006/chart" r:id="R0219dda9e75c486b"/>
          </a:graphicData>
        </a:graphic>
      </p:graphicFrame>
      <p:graphicFrame>
        <p:nvGraphicFramePr>
          <p:cNvPr id="544" name="Chart"/>
          <p:cNvGraphicFramePr/>
          <p:nvPr/>
        </p:nvGraphicFramePr>
        <p:xfrm>
          <a:off xmlns:a="http://schemas.openxmlformats.org/drawingml/2006/main" x="4257675" y="2047875"/>
          <a:ext xmlns:a="http://schemas.openxmlformats.org/drawingml/2006/main" cx="3619500" cy="3381375"/>
        </p:xfrm>
        <a:graphic xmlns:a="http://schemas.openxmlformats.org/drawingml/2006/main">
          <a:graphicData uri="http://schemas.openxmlformats.org/drawingml/2006/chart">
            <c:chart xmlns:r="http://schemas.openxmlformats.org/officeDocument/2006/relationships" xmlns:c="http://schemas.openxmlformats.org/drawingml/2006/chart" r:id="Radd3d305f69e4ea4"/>
          </a:graphicData>
        </a:graphic>
      </p:graphicFrame>
      <p:graphicFrame>
        <p:nvGraphicFramePr>
          <p:cNvPr id="545" name="Chart"/>
          <p:cNvGraphicFramePr/>
          <p:nvPr/>
        </p:nvGraphicFramePr>
        <p:xfrm>
          <a:off xmlns:a="http://schemas.openxmlformats.org/drawingml/2006/main" x="8115300" y="2047875"/>
          <a:ext xmlns:a="http://schemas.openxmlformats.org/drawingml/2006/main" cx="3619500" cy="3381375"/>
        </p:xfrm>
        <a:graphic xmlns:a="http://schemas.openxmlformats.org/drawingml/2006/main">
          <a:graphicData uri="http://schemas.openxmlformats.org/drawingml/2006/chart">
            <c:chart xmlns:r="http://schemas.openxmlformats.org/officeDocument/2006/relationships" xmlns:c="http://schemas.openxmlformats.org/drawingml/2006/chart" r:id="R6b22d5f1d5ba4312"/>
          </a:graphicData>
        </a:graphic>
      </p:graphicFrame>
      <p:sp>
        <p:nvSpPr>
          <p:cNvPr id="537" name="">
            <a:extLst xmlns:a="http://schemas.openxmlformats.org/drawingml/2006/main">
              <a:ext uri="{FF2B5EF4-FFF2-40B4-BE49-F238E27FC236}">
                <a16:creationId xmlns:a16="http://schemas.microsoft.com/office/drawing/2014/main" id="{1692A070-C9B1-4545-A794-29A81CBCA095}"/>
              </a:ext>
            </a:extLst>
          </p:cNvPr>
          <p:cNvSpPr>
            <a:spLocks xmlns:a="http://schemas.openxmlformats.org/drawingml/2006/main" noGrp="1"/>
          </p:cNvSpPr>
          <p:nvPr/>
        </p:nvSpPr>
        <p:spPr>
          <a:xfrm xmlns:a="http://schemas.openxmlformats.org/drawingml/2006/main">
            <a:off x="400050" y="5762625"/>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128 recorded updates per run. IVON curves show sampled batch loss and exclude KL.</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4DB16885-0D3F-A391-B669-3211DB3B26E8}" type="slidenum">
              <a:t>12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Confidence after posterior averaging</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graphicFrame>
        <p:nvGraphicFramePr>
          <p:cNvPr id="543" name="Chart"/>
          <p:cNvGraphicFramePr/>
          <p:nvPr/>
        </p:nvGraphicFramePr>
        <p:xfrm>
          <a:off xmlns:a="http://schemas.openxmlformats.org/drawingml/2006/main" x="400050" y="1905000"/>
          <a:ext xmlns:a="http://schemas.openxmlformats.org/drawingml/2006/main" cx="7239000" cy="4000500"/>
        </p:xfrm>
        <a:graphic xmlns:a="http://schemas.openxmlformats.org/drawingml/2006/main">
          <a:graphicData uri="http://schemas.openxmlformats.org/drawingml/2006/chart">
            <c:chart xmlns:r="http://schemas.openxmlformats.org/officeDocument/2006/relationships" xmlns:c="http://schemas.openxmlformats.org/drawingml/2006/chart" r:id="Rd362deb7d51649e6"/>
          </a:graphicData>
        </a:graphic>
      </p:graphicFrame>
      <p:sp>
        <p:nvSpPr>
          <p:cNvPr id="535" name="">
            <a:extLst xmlns:a="http://schemas.openxmlformats.org/drawingml/2006/main">
              <a:ext uri="{FF2B5EF4-FFF2-40B4-BE49-F238E27FC236}">
                <a16:creationId xmlns:a16="http://schemas.microsoft.com/office/drawing/2014/main" id="{6497155A-96BB-4A05-BF22-7254972BB244}"/>
              </a:ext>
            </a:extLst>
          </p:cNvPr>
          <p:cNvSpPr>
            <a:spLocks xmlns:a="http://schemas.openxmlformats.org/drawingml/2006/main" noGrp="1"/>
          </p:cNvSpPr>
          <p:nvPr/>
        </p:nvSpPr>
        <p:spPr>
          <a:xfrm xmlns:a="http://schemas.openxmlformats.org/drawingml/2006/main">
            <a:off x="8286750" y="238125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BC9DF5"/>
                </a:solidFill>
                <a:latin typeface="Helvetica Neue"/>
                <a:ea typeface="Helvetica Neue"/>
                <a:cs typeface="Helvetica Neue"/>
              </a:defRPr>
            </a:pPr>
            <a:r>
              <a:rPr sz="2400" b="1">
                <a:solidFill>
                  <a:srgbClr val="BC9DF5"/>
                </a:solidFill>
                <a:latin typeface="Helvetica Neue"/>
                <a:ea typeface="Helvetica Neue"/>
                <a:cs typeface="Helvetica Neue"/>
              </a:rPr>
              <a:t>10-draw IVON</a:t>
            </a:r>
          </a:p>
        </p:txBody>
      </p:sp>
      <p:sp>
        <p:nvSpPr>
          <p:cNvPr id="536" name="">
            <a:extLst xmlns:a="http://schemas.openxmlformats.org/drawingml/2006/main">
              <a:ext uri="{FF2B5EF4-FFF2-40B4-BE49-F238E27FC236}">
                <a16:creationId xmlns:a16="http://schemas.microsoft.com/office/drawing/2014/main" id="{8F5B70C6-EBC4-404F-B216-44AFF181B2F9}"/>
              </a:ext>
            </a:extLst>
          </p:cNvPr>
          <p:cNvSpPr>
            <a:spLocks xmlns:a="http://schemas.openxmlformats.org/drawingml/2006/main" noGrp="1"/>
          </p:cNvSpPr>
          <p:nvPr/>
        </p:nvSpPr>
        <p:spPr>
          <a:xfrm xmlns:a="http://schemas.openxmlformats.org/drawingml/2006/main">
            <a:off x="8286750" y="3143250"/>
            <a:ext cx="3429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52.1% confidence</a:t>
            </a:r>
          </a:p>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69.4% accuracy</a:t>
            </a:r>
          </a:p>
          <a:p xmlns:a="http://schemas.openxmlformats.org/drawingml/2006/main">
            <a:r>
              <a:t/>
            </a:r>
          </a:p>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The averaged predictor was underconfident overall.</a:t>
            </a:r>
          </a:p>
        </p:txBody>
      </p:sp>
      <p:sp>
        <p:nvSpPr>
          <p:cNvPr id="537" name="">
            <a:extLst xmlns:a="http://schemas.openxmlformats.org/drawingml/2006/main">
              <a:ext uri="{FF2B5EF4-FFF2-40B4-BE49-F238E27FC236}">
                <a16:creationId xmlns:a16="http://schemas.microsoft.com/office/drawing/2014/main" id="{8195AB96-D74D-4CF9-A331-C65DEB4E93B0}"/>
              </a:ext>
            </a:extLst>
          </p:cNvPr>
          <p:cNvSpPr>
            <a:spLocks xmlns:a="http://schemas.openxmlformats.org/drawingml/2006/main" noGrp="1"/>
          </p:cNvSpPr>
          <p:nvPr/>
        </p:nvSpPr>
        <p:spPr>
          <a:xfrm xmlns:a="http://schemas.openxmlformats.org/drawingml/2006/main">
            <a:off x="400050" y="60483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An overall confidence gap is a diagnostic. It is different from binned ECE.</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DD23107-4986-8758-3A93-3D74F35908CC}" type="slidenum">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Measured compute cost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graphicFrame>
        <p:nvGraphicFramePr>
          <p:cNvPr id="542" name="Chart"/>
          <p:cNvGraphicFramePr/>
          <p:nvPr/>
        </p:nvGraphicFramePr>
        <p:xfrm>
          <a:off xmlns:a="http://schemas.openxmlformats.org/drawingml/2006/main" x="400050" y="2095500"/>
          <a:ext xmlns:a="http://schemas.openxmlformats.org/drawingml/2006/main" cx="5191125" cy="3333750"/>
        </p:xfrm>
        <a:graphic xmlns:a="http://schemas.openxmlformats.org/drawingml/2006/main">
          <a:graphicData uri="http://schemas.openxmlformats.org/drawingml/2006/chart">
            <c:chart xmlns:r="http://schemas.openxmlformats.org/officeDocument/2006/relationships" xmlns:c="http://schemas.openxmlformats.org/drawingml/2006/chart" r:id="Rc30d057265434d9d"/>
          </a:graphicData>
        </a:graphic>
      </p:graphicFrame>
      <p:graphicFrame>
        <p:nvGraphicFramePr>
          <p:cNvPr id="543" name="Chart"/>
          <p:cNvGraphicFramePr/>
          <p:nvPr/>
        </p:nvGraphicFramePr>
        <p:xfrm>
          <a:off xmlns:a="http://schemas.openxmlformats.org/drawingml/2006/main" x="6286500" y="2095500"/>
          <a:ext xmlns:a="http://schemas.openxmlformats.org/drawingml/2006/main" cx="5476875" cy="3333750"/>
        </p:xfrm>
        <a:graphic xmlns:a="http://schemas.openxmlformats.org/drawingml/2006/main">
          <a:graphicData uri="http://schemas.openxmlformats.org/drawingml/2006/chart">
            <c:chart xmlns:r="http://schemas.openxmlformats.org/officeDocument/2006/relationships" xmlns:c="http://schemas.openxmlformats.org/drawingml/2006/chart" r:id="Rc67b01561f324c54"/>
          </a:graphicData>
        </a:graphic>
      </p:graphicFrame>
      <p:sp>
        <p:nvSpPr>
          <p:cNvPr id="536" name="">
            <a:extLst xmlns:a="http://schemas.openxmlformats.org/drawingml/2006/main">
              <a:ext uri="{FF2B5EF4-FFF2-40B4-BE49-F238E27FC236}">
                <a16:creationId xmlns:a16="http://schemas.microsoft.com/office/drawing/2014/main" id="{4690B807-FCDB-47DB-9ED7-01AB7763EE29}"/>
              </a:ext>
            </a:extLst>
          </p:cNvPr>
          <p:cNvSpPr>
            <a:spLocks xmlns:a="http://schemas.openxmlformats.org/drawingml/2006/main" noGrp="1"/>
          </p:cNvSpPr>
          <p:nvPr/>
        </p:nvSpPr>
        <p:spPr>
          <a:xfrm xmlns:a="http://schemas.openxmlformats.org/drawingml/2006/main">
            <a:off x="400050" y="5762625"/>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Tesla T4, about 2.96 GiB peak allocated during training. Twelve correctness tests passed.</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Conclusion and next experiment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
            </a:r>
          </a:p>
        </p:txBody>
      </p:sp>
      <p:sp>
        <p:nvSpPr>
          <p:cNvPr id="534" name="">
            <a:extLst xmlns:a="http://schemas.openxmlformats.org/drawingml/2006/main">
              <a:ext uri="{FF2B5EF4-FFF2-40B4-BE49-F238E27FC236}">
                <a16:creationId xmlns:a16="http://schemas.microsoft.com/office/drawing/2014/main" id="{2BBBAFA5-277C-4B51-BA98-CD0DCE0D29BB}"/>
              </a:ext>
            </a:extLst>
          </p:cNvPr>
          <p:cNvSpPr>
            <a:spLocks xmlns:a="http://schemas.openxmlformats.org/drawingml/2006/main" noGrp="1"/>
          </p:cNvSpPr>
          <p:nvPr/>
        </p:nvSpPr>
        <p:spPr>
          <a:xfrm xmlns:a="http://schemas.openxmlformats.org/drawingml/2006/main">
            <a:off x="400050" y="1952625"/>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6DCBF4"/>
                </a:solidFill>
                <a:latin typeface="Helvetica Neue"/>
                <a:ea typeface="Helvetica Neue"/>
                <a:cs typeface="Helvetica Neue"/>
              </a:defRPr>
            </a:pPr>
            <a:r>
              <a:rPr sz="2325" b="1">
                <a:solidFill>
                  <a:srgbClr val="6DCBF4"/>
                </a:solidFill>
                <a:latin typeface="Helvetica Neue"/>
                <a:ea typeface="Helvetica Neue"/>
                <a:cs typeface="Helvetica Neue"/>
              </a:rPr>
              <a:t>What the evidence supports</a:t>
            </a:r>
          </a:p>
        </p:txBody>
      </p:sp>
      <p:sp>
        <p:nvSpPr>
          <p:cNvPr id="535" name="">
            <a:extLst xmlns:a="http://schemas.openxmlformats.org/drawingml/2006/main">
              <a:ext uri="{FF2B5EF4-FFF2-40B4-BE49-F238E27FC236}">
                <a16:creationId xmlns:a16="http://schemas.microsoft.com/office/drawing/2014/main" id="{29F0E2DD-B482-41AF-8511-6AC5801DF2C6}"/>
              </a:ext>
            </a:extLst>
          </p:cNvPr>
          <p:cNvSpPr>
            <a:spLocks xmlns:a="http://schemas.openxmlformats.org/drawingml/2006/main" noGrp="1"/>
          </p:cNvSpPr>
          <p:nvPr/>
        </p:nvSpPr>
        <p:spPr>
          <a:xfrm xmlns:a="http://schemas.openxmlformats.org/drawingml/2006/main">
            <a:off x="400050" y="2762250"/>
            <a:ext cx="5286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IVON mean had similar ECE to AdamW.</a:t>
            </a:r>
          </a:p>
          <a:p xmlns:a="http://schemas.openxmlformats.org/drawingml/2006/main">
            <a:r>
              <a:t/>
            </a:r>
          </a:p>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Ten-draw averaging reduced accuracy and worsened ECE and NLL.</a:t>
            </a:r>
          </a:p>
          <a:p xmlns:a="http://schemas.openxmlformats.org/drawingml/2006/main">
            <a:r>
              <a:t/>
            </a:r>
          </a:p>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The paper’s calibration gain did not clearly carry over to this setup.</a:t>
            </a:r>
          </a:p>
        </p:txBody>
      </p:sp>
      <p:sp>
        <p:nvSpPr>
          <p:cNvPr id="536" name="">
            <a:extLst xmlns:a="http://schemas.openxmlformats.org/drawingml/2006/main">
              <a:ext uri="{FF2B5EF4-FFF2-40B4-BE49-F238E27FC236}">
                <a16:creationId xmlns:a16="http://schemas.microsoft.com/office/drawing/2014/main" id="{62D5B177-1ED8-4B92-ACB4-063390896572}"/>
              </a:ext>
            </a:extLst>
          </p:cNvPr>
          <p:cNvSpPr>
            <a:spLocks xmlns:a="http://schemas.openxmlformats.org/drawingml/2006/main" noGrp="1"/>
          </p:cNvSpPr>
          <p:nvPr/>
        </p:nvSpPr>
        <p:spPr>
          <a:xfrm xmlns:a="http://schemas.openxmlformats.org/drawingml/2006/main">
            <a:off x="6572250" y="195262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F3AF68"/>
                </a:solidFill>
                <a:latin typeface="Helvetica Neue"/>
                <a:ea typeface="Helvetica Neue"/>
                <a:cs typeface="Helvetica Neue"/>
              </a:defRPr>
            </a:pPr>
            <a:r>
              <a:rPr sz="2325" b="1">
                <a:solidFill>
                  <a:srgbClr val="F3AF68"/>
                </a:solidFill>
                <a:latin typeface="Helvetica Neue"/>
                <a:ea typeface="Helvetica Neue"/>
                <a:cs typeface="Helvetica Neue"/>
              </a:rPr>
              <a:t>Limits and next step</a:t>
            </a:r>
          </a:p>
        </p:txBody>
      </p:sp>
      <p:sp>
        <p:nvSpPr>
          <p:cNvPr id="537" name="">
            <a:extLst xmlns:a="http://schemas.openxmlformats.org/drawingml/2006/main">
              <a:ext uri="{FF2B5EF4-FFF2-40B4-BE49-F238E27FC236}">
                <a16:creationId xmlns:a16="http://schemas.microsoft.com/office/drawing/2014/main" id="{8A4EBBAB-2A6F-4446-9C99-6BD8676F1D6C}"/>
              </a:ext>
            </a:extLst>
          </p:cNvPr>
          <p:cNvSpPr>
            <a:spLocks xmlns:a="http://schemas.openxmlformats.org/drawingml/2006/main" noGrp="1"/>
          </p:cNvSpPr>
          <p:nvPr/>
        </p:nvSpPr>
        <p:spPr>
          <a:xfrm xmlns:a="http://schemas.openxmlformats.org/drawingml/2006/main">
            <a:off x="6572250" y="2762250"/>
            <a:ext cx="5238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One small dataset subset and three seeds.</a:t>
            </a:r>
          </a:p>
          <a:p xmlns:a="http://schemas.openxmlformats.org/drawingml/2006/main">
            <a:r>
              <a:t/>
            </a:r>
          </a:p>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Model family and size both changed.</a:t>
            </a:r>
          </a:p>
          <a:p xmlns:a="http://schemas.openxmlformats.org/drawingml/2006/main">
            <a:r>
              <a:t/>
            </a:r>
          </a:p>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Next: equal validation-tuning budgets for both optimizers, followed by a larger task.</a:t>
            </a:r>
          </a:p>
        </p:txBody>
      </p:sp>
      <p:sp>
        <p:nvSpPr>
          <p:cNvPr id="538" name="">
            <a:extLst xmlns:a="http://schemas.openxmlformats.org/drawingml/2006/main">
              <a:ext uri="{FF2B5EF4-FFF2-40B4-BE49-F238E27FC236}">
                <a16:creationId xmlns:a16="http://schemas.microsoft.com/office/drawing/2014/main" id="{5F951533-0F43-4958-AE19-2A031C7E65CB}"/>
              </a:ext>
            </a:extLst>
          </p:cNvPr>
          <p:cNvSpPr>
            <a:spLocks xmlns:a="http://schemas.openxmlformats.org/drawingml/2006/main" noGrp="1"/>
          </p:cNvSpPr>
          <p:nvPr/>
        </p:nvSpPr>
        <p:spPr>
          <a:xfrm xmlns:a="http://schemas.openxmlformats.org/drawingml/2006/main">
            <a:off x="400050" y="600075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The deliverable includes source, executed notebook, predictions, metrics, and training logs.</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2026-09-14T19:03:06.1110000Z</dcterms:created>
  <dcterms:modified xsi:type="dcterms:W3CDTF">2026-09-14T19:03:06.1110000Z</dcterms:modified>
</coreProperties>
</file>